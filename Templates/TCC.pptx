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VrYcfxmFehEfEp/ALVI6E0tyU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55EC3D-964B-4165-999E-76911D6B330E}">
  <a:tblStyle styleId="{BF55EC3D-964B-4165-999E-76911D6B33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A 2ª etapa é a divisão da base de dados em três partições: 60% para treino, 20% para validação e 20% para teste.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Essa separação é importante para garantir que a </a:t>
            </a:r>
            <a:r>
              <a:rPr b="1" lang="en-US" sz="1300"/>
              <a:t>avaliação final do modelo seja feita em dados que ele nunca viu antes</a:t>
            </a:r>
            <a:r>
              <a:rPr lang="en-US" sz="1300"/>
              <a:t>, evitando que o modelo decore os dados.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Para isso, utilizamos o método stratify da biblioteca Scikit-learn, afim de garantir nas 3 partições a </a:t>
            </a:r>
            <a:r>
              <a:rPr b="1" lang="en-US" sz="1300"/>
              <a:t>proporção original de clientes</a:t>
            </a:r>
            <a:r>
              <a:rPr lang="en-US" sz="1300"/>
              <a:t> adimplentes e inadimplentes.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Na etapa de padronização das variáveis, nas numéricas utilizamos o </a:t>
            </a:r>
            <a:r>
              <a:rPr b="1" lang="en-US" sz="1300"/>
              <a:t>StandardScaler</a:t>
            </a:r>
            <a:r>
              <a:rPr lang="en-US" sz="1300"/>
              <a:t>. ele é baseado na transformação do Z-score que faz um cálculo de média 0 e desvio padrão 1.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Por exemplo, eu tenho a variável</a:t>
            </a:r>
            <a:r>
              <a:rPr b="1" lang="en-US" sz="1300"/>
              <a:t> idade</a:t>
            </a:r>
            <a:r>
              <a:rPr lang="en-US" sz="1300"/>
              <a:t> e a variável de</a:t>
            </a:r>
            <a:r>
              <a:rPr b="1" lang="en-US" sz="1300"/>
              <a:t> limite de crédito</a:t>
            </a:r>
            <a:r>
              <a:rPr lang="en-US" sz="1300"/>
              <a:t>, como elas estão em </a:t>
            </a:r>
            <a:r>
              <a:rPr b="1" lang="en-US" sz="1300"/>
              <a:t>escalas</a:t>
            </a:r>
            <a:r>
              <a:rPr lang="en-US" sz="1300"/>
              <a:t> diferentes elas podem afetar a </a:t>
            </a:r>
            <a:r>
              <a:rPr b="1" lang="en-US" sz="1300"/>
              <a:t>sensibilidade</a:t>
            </a:r>
            <a:r>
              <a:rPr lang="en-US" sz="1300"/>
              <a:t> dos algoritmos, principalmente os que aplicam cálculo de distância como SVM ou cálculo de gradiente como o LSTM.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Já nas variáveis categóricas, usamos a técnica de </a:t>
            </a:r>
            <a:r>
              <a:rPr b="1" lang="en-US" sz="1300"/>
              <a:t>OneHotEncoding</a:t>
            </a:r>
            <a:r>
              <a:rPr lang="en-US" sz="1300"/>
              <a:t>. O objetivo aqui é </a:t>
            </a:r>
            <a:r>
              <a:rPr b="1" lang="en-US" sz="1300"/>
              <a:t>converter</a:t>
            </a:r>
            <a:r>
              <a:rPr lang="en-US" sz="1300"/>
              <a:t> dados categóricos em</a:t>
            </a:r>
            <a:r>
              <a:rPr b="1" lang="en-US" sz="1300"/>
              <a:t> numéricos</a:t>
            </a:r>
            <a:r>
              <a:rPr lang="en-US" sz="1300"/>
              <a:t>, assim ele evita criar ordem </a:t>
            </a:r>
            <a:r>
              <a:rPr b="1" lang="en-US" sz="1300"/>
              <a:t>hierárquica inexistente</a:t>
            </a:r>
            <a:r>
              <a:rPr lang="en-US" sz="1300"/>
              <a:t>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Por exemplo, a variável 'Sexo' tem a opção feminino e masculino, essa transformação gera duas colunas a ‘Feminino' e 'Masculino'. Se o registro for de uma cliente mulher, a coluna 'Feminino' recebe o valor 1 e a 'Masculino' recebe 0. Então ele faz esse tratamento binário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Por último, fazemos um tratamento do desbalanceamento da base via </a:t>
            </a:r>
            <a:r>
              <a:rPr b="1" lang="en-US" sz="1300"/>
              <a:t>Class Weight</a:t>
            </a:r>
            <a:r>
              <a:rPr lang="en-US" sz="1300"/>
              <a:t>. Como a nossa base tem muito mais clientes adimplentes do que inadimplentes, essa função </a:t>
            </a:r>
            <a:r>
              <a:rPr b="1" lang="en-US" sz="1300"/>
              <a:t>atribui um peso maior para a classe minoritária</a:t>
            </a:r>
            <a:r>
              <a:rPr lang="en-US" sz="1300"/>
              <a:t> durante o</a:t>
            </a:r>
            <a:r>
              <a:rPr b="1" lang="en-US" sz="1300"/>
              <a:t> treinamento</a:t>
            </a:r>
            <a:r>
              <a:rPr lang="en-US" sz="1300"/>
              <a:t>. Esse tratamento é feito apenas na base de </a:t>
            </a:r>
            <a:r>
              <a:rPr b="1" lang="en-US" sz="1300"/>
              <a:t>treino</a:t>
            </a:r>
            <a:r>
              <a:rPr lang="en-US" sz="1300"/>
              <a:t>, o papel dele é influenciar o aprendizado do modelo.</a:t>
            </a:r>
            <a:endParaRPr/>
          </a:p>
        </p:txBody>
      </p:sp>
      <p:sp>
        <p:nvSpPr>
          <p:cNvPr id="106" name="Google Shape;1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Para esse estudo nos implementamos 6 algoritmos que possuem </a:t>
            </a:r>
            <a:r>
              <a:rPr b="1" lang="en-US" sz="1100"/>
              <a:t>bom desempenho em problemas de classificação binária</a:t>
            </a:r>
            <a:r>
              <a:rPr lang="en-US" sz="1100"/>
              <a:t> (inadimplentes e adimplentes) especialmente em </a:t>
            </a:r>
            <a:r>
              <a:rPr b="1" lang="en-US" sz="1100"/>
              <a:t>cenários de risco de crédito</a:t>
            </a:r>
            <a:r>
              <a:rPr lang="en-US" sz="1100"/>
              <a:t>, contemplando desde modelos mais simples até modelos mais complexos: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A </a:t>
            </a:r>
            <a:r>
              <a:rPr b="1" lang="en-US" sz="1100"/>
              <a:t>Regressão logística é</a:t>
            </a:r>
            <a:r>
              <a:rPr lang="en-US" sz="1100"/>
              <a:t> um modelo tradicional muito utilizado  em aplicações de escoragem de crédito. A principal vantagem é a interpretabilidade, ele permite analisar a influência de cada variável explicativa de forma transparente.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O</a:t>
            </a:r>
            <a:r>
              <a:rPr b="1" lang="en-US" sz="1100"/>
              <a:t> SVM </a:t>
            </a:r>
            <a:r>
              <a:rPr lang="en-US" sz="1100"/>
              <a:t>foi escolhido pela capacidade de construir fronteiras de decisão robustas e modelar padrões não lineares complexos através da função de kernel, característica relevante em problemas de inadimplência, onde o risco de</a:t>
            </a:r>
            <a:r>
              <a:rPr b="1" lang="en-US" sz="1100"/>
              <a:t> default raramente</a:t>
            </a:r>
            <a:r>
              <a:rPr lang="en-US" sz="1100"/>
              <a:t> se apresenta de </a:t>
            </a:r>
            <a:r>
              <a:rPr b="1" lang="en-US" sz="1100"/>
              <a:t>forma linear.</a:t>
            </a:r>
            <a:r>
              <a:rPr lang="en-US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O </a:t>
            </a:r>
            <a:r>
              <a:rPr b="1" lang="en-US" sz="1100"/>
              <a:t>Random Forest</a:t>
            </a:r>
            <a:r>
              <a:rPr lang="en-US" sz="1100"/>
              <a:t> tmb é um modelo robusto pra interações não lineares. Ele combina diversas árvores de decisão treinadas sobre amostras aleatórias (colunas aleatórias), o que gera baixa sensibilidade ao ruído e  tende a apresentar</a:t>
            </a:r>
            <a:r>
              <a:rPr b="1" lang="en-US" sz="1100"/>
              <a:t> bom desempenho em bases tabulare</a:t>
            </a:r>
            <a:r>
              <a:rPr lang="en-US" sz="1100"/>
              <a:t>s com variáveis </a:t>
            </a:r>
            <a:r>
              <a:rPr b="1" lang="en-US" sz="1100"/>
              <a:t>heterogêneas</a:t>
            </a:r>
            <a:r>
              <a:rPr lang="en-US" sz="1100"/>
              <a:t>, como é o caso deste estudo.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O </a:t>
            </a:r>
            <a:r>
              <a:rPr b="1" lang="en-US" sz="1100"/>
              <a:t>XGBoost</a:t>
            </a:r>
            <a:r>
              <a:rPr lang="en-US" sz="1100"/>
              <a:t> também é um modelo ensemble de árvores de decisão sequenciais, onde uma </a:t>
            </a:r>
            <a:r>
              <a:rPr lang="en-US" sz="1100"/>
              <a:t>árvore</a:t>
            </a:r>
            <a:r>
              <a:rPr lang="en-US" sz="1100"/>
              <a:t> corrige o erro da anterior,</a:t>
            </a:r>
            <a:r>
              <a:rPr b="1" lang="en-US" sz="1100"/>
              <a:t> ótima para problemas estruturados</a:t>
            </a:r>
            <a:r>
              <a:rPr lang="en-US" sz="1100"/>
              <a:t> de classificação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O Voting Classifier combina a Regressão Logística, Random Forest e XGBoost, combinando as</a:t>
            </a:r>
            <a:r>
              <a:rPr b="1" lang="en-US" sz="1100"/>
              <a:t> forças</a:t>
            </a:r>
            <a:r>
              <a:rPr lang="en-US" sz="1100"/>
              <a:t> dos modelos, aplicando uma técnica de votação suave que faz a média entre esses modelos.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Por fim o</a:t>
            </a:r>
            <a:r>
              <a:rPr b="1" lang="en-US" sz="1100"/>
              <a:t> LSTM</a:t>
            </a:r>
            <a:r>
              <a:rPr lang="en-US" sz="1100"/>
              <a:t>, é um modelo mais avançado de redes neurais, que</a:t>
            </a:r>
            <a:r>
              <a:rPr b="1" lang="en-US" sz="1100"/>
              <a:t> identifica padrões mais complexos</a:t>
            </a:r>
            <a:r>
              <a:rPr lang="en-US" sz="1100"/>
              <a:t> e é amplamente utilizado em bases com </a:t>
            </a:r>
            <a:r>
              <a:rPr b="1" lang="en-US" sz="1100"/>
              <a:t>dados temporais</a:t>
            </a:r>
            <a:r>
              <a:rPr lang="en-US" sz="1100"/>
              <a:t> como </a:t>
            </a:r>
            <a:r>
              <a:rPr b="1" lang="en-US" sz="1100"/>
              <a:t>histórico de faturas e pagamentos</a:t>
            </a:r>
            <a:r>
              <a:rPr lang="en-US" sz="1100"/>
              <a:t>.</a:t>
            </a:r>
            <a:endParaRPr sz="1100"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852973fd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a852973fd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Pra avaliar qual seria o melhor modelo apuramos essas 6 métricas: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</a:t>
            </a:r>
            <a:r>
              <a:rPr b="1" lang="en-US"/>
              <a:t>Acurácia</a:t>
            </a:r>
            <a:r>
              <a:rPr lang="en-US"/>
              <a:t> é o percentual geral de acertos. Embora seja uma métrica comum, ela não é a mais indicada para bases desbalanceadas, pq pode ter alta acurácia apenas prevendo a classe majoritária, falhando em detectar o </a:t>
            </a:r>
            <a:r>
              <a:rPr b="1" lang="en-US"/>
              <a:t>inadimplente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já a </a:t>
            </a:r>
            <a:r>
              <a:rPr b="1" lang="en-US"/>
              <a:t>Precisão</a:t>
            </a:r>
            <a:r>
              <a:rPr lang="en-US"/>
              <a:t> foca na qualidade das predições positivas, ela é muito importante quando o custo de bloquear ou reduzir o limite é alto, ou seja, ele evita o falso positivo.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Recall é uma métrica importante, ela mede a capacidade real de identificar os cliente inadimplentes. No contexto de risco de crédito, quanto maior o recall, maior a identificação dos clientes inadimplentes e consequentemente minimiza o prejuízo financeiro de não detectar um </a:t>
            </a:r>
            <a:r>
              <a:rPr i="1" lang="en-US"/>
              <a:t>default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 </a:t>
            </a:r>
            <a:r>
              <a:rPr b="1" lang="en-US"/>
              <a:t>F1 score</a:t>
            </a:r>
            <a:r>
              <a:rPr lang="en-US"/>
              <a:t> é a melhor métrica para avaliar, pq ela faz uma média harmônica entre Precisão e Recall, trazendo uma visão equilibrada entre identificação de inadimplentes sem evitar bloqueios excessivos em clientes adimplentes.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Adicionalmente, tem o  </a:t>
            </a:r>
            <a:r>
              <a:rPr b="1" lang="en-US"/>
              <a:t>ROC-AUC </a:t>
            </a:r>
            <a:r>
              <a:rPr lang="en-US"/>
              <a:t>que é a segunda métrica mais importante,  ele mede o quão bem os modelos conseguem separar duas classes, quando mais próximo de 1 melhor a capacidade de separação.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Por último tem a matriz de confusão que é só uma visão tabular dos erros e acertos dos modelos.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Eixo X:</a:t>
            </a:r>
            <a:r>
              <a:rPr lang="en-US"/>
              <a:t> Taxa de Falsos Positivos (FPR)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Eixo Y:</a:t>
            </a:r>
            <a:r>
              <a:rPr lang="en-US"/>
              <a:t> Recall ou Sensibilidade (TPR)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852973fd3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No contexto de concessão de crédito, é fundamental identificar o maior número possível de inadimplentes sem gerar um excesso de classificações incorretas. Nesse sentido, o SVM apresentou o melhor equilíbrio entre risco e eficiência operacional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Regressão logística</a:t>
            </a:r>
            <a:r>
              <a:rPr lang="en-US"/>
              <a:t> ficou abaixo na maioria das métricas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SVM</a:t>
            </a:r>
            <a:r>
              <a:rPr lang="en-US"/>
              <a:t> maior F1 e maior recall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Random forest</a:t>
            </a:r>
            <a:r>
              <a:rPr lang="en-US"/>
              <a:t> foi muito </a:t>
            </a:r>
            <a:r>
              <a:rPr b="1" lang="en-US"/>
              <a:t>conservador</a:t>
            </a:r>
            <a:r>
              <a:rPr lang="en-US"/>
              <a:t>, apresentando valor elevado apenas na acurácia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XGboost e o voting classifier</a:t>
            </a:r>
            <a:r>
              <a:rPr lang="en-US"/>
              <a:t> no geral tiveram bons desempenhos mais não superaram o SVM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</a:t>
            </a:r>
            <a:r>
              <a:rPr b="1" lang="en-US"/>
              <a:t> LSTM</a:t>
            </a:r>
            <a:r>
              <a:rPr lang="en-US"/>
              <a:t> apresenta o melhor ROC-AUC, mais um</a:t>
            </a:r>
            <a:r>
              <a:rPr b="1" lang="en-US"/>
              <a:t> modelo complexo e de maior custo computacional</a:t>
            </a:r>
            <a:r>
              <a:rPr lang="en-US"/>
              <a:t>, que não pode ser justificado diante da </a:t>
            </a:r>
            <a:r>
              <a:rPr b="1" lang="en-US"/>
              <a:t>superioridade e simplicidade</a:t>
            </a:r>
            <a:r>
              <a:rPr lang="en-US"/>
              <a:t> do SVM.</a:t>
            </a:r>
            <a:endParaRPr/>
          </a:p>
        </p:txBody>
      </p:sp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852973fd3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a852973fd3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3a852973fd3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Previs</a:t>
            </a: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de </a:t>
            </a: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Inadimplência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19933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r>
              <a:rPr b="1" lang="en-US" sz="3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 de Cr</a:t>
            </a:r>
            <a:r>
              <a:rPr b="1" lang="en-US" sz="3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dito com Machine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0" y="2788920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29718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Camille M. Pleger  |  Raul C. Rodrigues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PUCPR  |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65760" y="1051560"/>
            <a:ext cx="2606040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65760" y="1115568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5,7%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6576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Inadimpl</a:t>
            </a: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ê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ncia cr</a:t>
            </a: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dito livre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Brasil - fev/2026 (Bacen)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200400" y="1051560"/>
            <a:ext cx="2606040" cy="1371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3200400" y="1115568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+1,2 p.p.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20040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em 12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tend</a:t>
            </a: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ê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ncia de 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035040" y="1051560"/>
            <a:ext cx="2606040" cy="1371600"/>
          </a:xfrm>
          <a:prstGeom prst="rect">
            <a:avLst/>
          </a:prstGeom>
          <a:solidFill>
            <a:srgbClr val="2A3A80"/>
          </a:solidFill>
          <a:ln cap="flat" cmpd="sng" w="12700">
            <a:solidFill>
              <a:srgbClr val="2A3A8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035040" y="1115568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22,12%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dos clientes da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inadimplentes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65760" y="2606040"/>
            <a:ext cx="841248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365760" y="271576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do estudo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Desenvolver e comparar modelos de Machine Learning para </a:t>
            </a: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prever inadimpl</a:t>
            </a: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ê</a:t>
            </a: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ncia no </a:t>
            </a: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mês</a:t>
            </a: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subsequente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utilizando dados demograficos e hist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rico de faturas e pagamentos de clientes de cartao de credito. </a:t>
            </a:r>
            <a:endParaRPr b="0" i="0" sz="13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 objetivo pratico e identificar clientes de risco antes do prejuizo, permitindo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como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redução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 limite,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negociação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priorização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cobranças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- reduzindo a PDD (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Provisão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 Devedores Duvidosos).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Raul</a:t>
            </a:r>
            <a:endParaRPr sz="900"/>
          </a:p>
        </p:txBody>
      </p:sp>
      <p:sp>
        <p:nvSpPr>
          <p:cNvPr id="43" name="Google Shape;43;p3"/>
          <p:cNvSpPr/>
          <p:nvPr/>
        </p:nvSpPr>
        <p:spPr>
          <a:xfrm>
            <a:off x="-1196525" y="634800"/>
            <a:ext cx="924600" cy="2796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Ok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Dados: Default of Credit Card Clients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365760" y="1005840"/>
            <a:ext cx="1920240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365760" y="106070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30.000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365760" y="16184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2468880" y="1005840"/>
            <a:ext cx="1920240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2468880" y="106070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468880" y="16184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vari</a:t>
            </a:r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veis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0" y="1005840"/>
            <a:ext cx="1920240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4572000" y="106070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22,12%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572000" y="16184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inadimplentes (classe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675120" y="1005840"/>
            <a:ext cx="1920240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675120" y="106070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77,88%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675120" y="16184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adimplentes (classe 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365760" y="22402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Grupos de variaveis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65760" y="2724912"/>
            <a:ext cx="54864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93776" y="26791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Demograficas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93776" y="295351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SEX, EDUCATION, MARRIAGE, 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365760" y="3474720"/>
            <a:ext cx="54864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93776" y="3429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93776" y="370332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LIMIT_BAL — limite de credito concedido (NT$)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65760" y="4224528"/>
            <a:ext cx="54864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93776" y="4178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Status PAY_1 a PAY_6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93776" y="44531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Status de pagamento nos ultimos 6 meses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846320" y="2724912"/>
            <a:ext cx="54864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974336" y="26791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Faturas BILL_AMT1 a BILL_AMT6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974336" y="295351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Valor da fatura nos ultimos 6 meses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846320" y="3474720"/>
            <a:ext cx="54864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974336" y="3429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Pagamentos PAY_AMT1 a PAY_AMT6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974336" y="370332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Valor pago nos ultimos 6 meses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846320" y="4224528"/>
            <a:ext cx="54864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974336" y="4178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974336" y="44531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 payment next month: 0 = Adimplente | 1 = Inadimplente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Raul</a:t>
            </a:r>
            <a:endParaRPr sz="900"/>
          </a:p>
        </p:txBody>
      </p:sp>
      <p:sp>
        <p:nvSpPr>
          <p:cNvPr id="83" name="Google Shape;83;p7"/>
          <p:cNvSpPr/>
          <p:nvPr/>
        </p:nvSpPr>
        <p:spPr>
          <a:xfrm>
            <a:off x="-1196525" y="634800"/>
            <a:ext cx="924600" cy="2796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Ok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Dados: Analise Exploratoria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5742435" y="524115"/>
            <a:ext cx="324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Principais achados da EDA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91585" y="3602665"/>
            <a:ext cx="54900" cy="548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210457" y="3602665"/>
            <a:ext cx="3127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PAY_1 (0,32) e o preditor mais forte — atraso no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mês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anterior e o maior sinal de risco.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91585" y="4351772"/>
            <a:ext cx="54900" cy="548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210457" y="4351772"/>
            <a:ext cx="3127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Correlacao decai ate PAY_6 (0,19):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padrão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temporal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lógico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 consistente.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512485" y="3638661"/>
            <a:ext cx="54900" cy="548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631348" y="3638650"/>
            <a:ext cx="402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Registros no valor de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-2 e 0 nas PAYs: 86-88%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adimplentes — comportamento financeiro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saudável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 mantidos na base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512485" y="4351893"/>
            <a:ext cx="54900" cy="5487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4631349" y="4351900"/>
            <a:ext cx="3666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Variaveis SEX, EDUCATION e MARRIAGE tiveram registros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padronizados, porém 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tem </a:t>
            </a:r>
            <a:r>
              <a:rPr lang="en-US" sz="1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correlação</a:t>
            </a: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baixa com o target.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Raul</a:t>
            </a:r>
            <a:endParaRPr sz="900"/>
          </a:p>
        </p:txBody>
      </p:sp>
      <p:pic>
        <p:nvPicPr>
          <p:cNvPr id="101" name="Google Shape;1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50" y="989075"/>
            <a:ext cx="8022988" cy="238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-1196525" y="634800"/>
            <a:ext cx="924600" cy="2796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Ok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Limpeza,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-processamento e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Estruturação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365760" y="1005840"/>
            <a:ext cx="26060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365760" y="1005840"/>
            <a:ext cx="2606040" cy="5943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457200" y="104241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868680" y="111556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Corre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çã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o de categorias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50292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EDUCATION: valores 0, 5 e 6 nao documentados -&gt; agrupados em 4 (Outros)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MARRIAGE: valor 0 nao documentado -&gt; agrupado em 3 (Outros)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PAY: valores -2 e 0 investigados e mantidos (88% adimplentes)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3200400" y="1005840"/>
            <a:ext cx="26060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3200400" y="1005840"/>
            <a:ext cx="260604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3291840" y="104241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3703320" y="111556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treino/validação/teste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333756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Treino: 60% (18.000 registros)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</a:t>
            </a: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o: 20% (6.000)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Teste: 20% (6.000) 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Proporção do target preservada nas 3 partições (stratify)</a:t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035040" y="1005840"/>
            <a:ext cx="26060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6035040" y="1005840"/>
            <a:ext cx="2606040" cy="594360"/>
          </a:xfrm>
          <a:prstGeom prst="rect">
            <a:avLst/>
          </a:prstGeom>
          <a:solidFill>
            <a:srgbClr val="2A3A80"/>
          </a:solidFill>
          <a:ln cap="flat" cmpd="sng" w="12700">
            <a:solidFill>
              <a:srgbClr val="2A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6126480" y="104241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6537960" y="111556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Padroniza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617220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Tratamento variáveis </a:t>
            </a: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numéricas</a:t>
            </a: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 com 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StandardScaler 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(Z-score: media 0, desvio 1)</a:t>
            </a:r>
            <a:endParaRPr b="0" i="0" sz="1050" u="none" cap="none" strike="noStrike">
              <a:solidFill>
                <a:srgbClr val="E53E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Tratamento variáveis </a:t>
            </a: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categóricas</a:t>
            </a: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OneHotEncoder (v</a:t>
            </a: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ariáveis binárias 0 ou 1), evita criação de ordem hierárquica inexistente.</a:t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Tratamento do desbalancemento via</a:t>
            </a:r>
            <a:r>
              <a:rPr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Class Weigth (base treino)</a:t>
            </a:r>
            <a:endParaRPr sz="10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Raul</a:t>
            </a:r>
            <a:endParaRPr sz="900"/>
          </a:p>
        </p:txBody>
      </p:sp>
      <p:sp>
        <p:nvSpPr>
          <p:cNvPr id="126" name="Google Shape;126;p11"/>
          <p:cNvSpPr/>
          <p:nvPr/>
        </p:nvSpPr>
        <p:spPr>
          <a:xfrm>
            <a:off x="-1196525" y="726250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Camille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lgoritmos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051560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1051560"/>
            <a:ext cx="73152" cy="11704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108960" y="1161288"/>
            <a:ext cx="1371600" cy="2743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108960" y="11612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linear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2064" y="112471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Regress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 Log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í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12064" y="1472184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Maior i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nterpret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abilidade, modelo linear usado como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846320" y="1051560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846320" y="1051560"/>
            <a:ext cx="73152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589520" y="1161288"/>
            <a:ext cx="1371600" cy="274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589520" y="11612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Kernel RBF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992624" y="112471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SVM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992624" y="1472184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aximiza margem entre classes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 fronteira de decisão;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kernel RBF captura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lineares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no comportamento financeiro.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2350008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2350008"/>
            <a:ext cx="73152" cy="11704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108960" y="2459736"/>
            <a:ext cx="1371600" cy="2743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108960" y="24597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Bagging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12064" y="24231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12064" y="2770632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Combina múltiplas árvores com subconjuntos aleatórios de variáveis, reduzindo variância e overfitting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846320" y="2350008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846320" y="2350008"/>
            <a:ext cx="73152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7589520" y="2459736"/>
            <a:ext cx="1371600" cy="274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589520" y="24597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Boosting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992624" y="24231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992624" y="2770632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Corrige iterativamente os erros das árvores anteriores, identificando padrões complexos.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3648456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65760" y="3648456"/>
            <a:ext cx="73152" cy="11704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108960" y="3758184"/>
            <a:ext cx="1371600" cy="2743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108960" y="37581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H</a:t>
            </a: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</a:t>
            </a: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12064" y="37216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Voting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12064" y="406908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Regressão Logística, Random Forest e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XGBoost via soft voting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aumentando robustez e estabilidade.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846320" y="3648456"/>
            <a:ext cx="4251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846320" y="3648456"/>
            <a:ext cx="73152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7589520" y="3758184"/>
            <a:ext cx="1371600" cy="274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7589520" y="37581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992624" y="372160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992624" y="406908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Rede recorrente que aprende dependencias temporais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Camille</a:t>
            </a:r>
            <a:endParaRPr sz="900"/>
          </a:p>
        </p:txBody>
      </p:sp>
      <p:sp>
        <p:nvSpPr>
          <p:cNvPr id="171" name="Google Shape;171;p5"/>
          <p:cNvSpPr/>
          <p:nvPr/>
        </p:nvSpPr>
        <p:spPr>
          <a:xfrm>
            <a:off x="-1196525" y="634800"/>
            <a:ext cx="924600" cy="2796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Ok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852973fd3_0_88"/>
          <p:cNvSpPr/>
          <p:nvPr/>
        </p:nvSpPr>
        <p:spPr>
          <a:xfrm>
            <a:off x="6025893" y="1042352"/>
            <a:ext cx="26517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a852973fd3_0_88"/>
          <p:cNvSpPr/>
          <p:nvPr/>
        </p:nvSpPr>
        <p:spPr>
          <a:xfrm>
            <a:off x="3180763" y="2944789"/>
            <a:ext cx="26517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852973fd3_0_8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852973fd3_0_88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Avaliação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a852973fd3_0_88"/>
          <p:cNvSpPr/>
          <p:nvPr/>
        </p:nvSpPr>
        <p:spPr>
          <a:xfrm>
            <a:off x="320040" y="987552"/>
            <a:ext cx="26517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852973fd3_0_88"/>
          <p:cNvSpPr/>
          <p:nvPr/>
        </p:nvSpPr>
        <p:spPr>
          <a:xfrm>
            <a:off x="320040" y="987552"/>
            <a:ext cx="2651700" cy="45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852973fd3_0_88"/>
          <p:cNvSpPr/>
          <p:nvPr/>
        </p:nvSpPr>
        <p:spPr>
          <a:xfrm>
            <a:off x="448056" y="107899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Acurácia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a852973fd3_0_88"/>
          <p:cNvSpPr/>
          <p:nvPr/>
        </p:nvSpPr>
        <p:spPr>
          <a:xfrm>
            <a:off x="448056" y="1408176"/>
            <a:ext cx="2450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852973fd3_0_88"/>
          <p:cNvSpPr/>
          <p:nvPr/>
        </p:nvSpPr>
        <p:spPr>
          <a:xfrm>
            <a:off x="484632" y="141732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VP + VN</a:t>
            </a:r>
            <a:r>
              <a:rPr b="0" i="0" lang="en-US" sz="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 / Total de previsões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a852973fd3_0_88"/>
          <p:cNvSpPr/>
          <p:nvPr/>
        </p:nvSpPr>
        <p:spPr>
          <a:xfrm>
            <a:off x="448056" y="169164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Percentual geral de previsões correta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é o mais indicado para classes desbalanceadas.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a852973fd3_0_88"/>
          <p:cNvSpPr/>
          <p:nvPr/>
        </p:nvSpPr>
        <p:spPr>
          <a:xfrm>
            <a:off x="3172968" y="987552"/>
            <a:ext cx="26517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852973fd3_0_88"/>
          <p:cNvSpPr/>
          <p:nvPr/>
        </p:nvSpPr>
        <p:spPr>
          <a:xfrm>
            <a:off x="3172968" y="987552"/>
            <a:ext cx="2651700" cy="45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852973fd3_0_88"/>
          <p:cNvSpPr/>
          <p:nvPr/>
        </p:nvSpPr>
        <p:spPr>
          <a:xfrm>
            <a:off x="3300984" y="107899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Precisão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a852973fd3_0_88"/>
          <p:cNvSpPr/>
          <p:nvPr/>
        </p:nvSpPr>
        <p:spPr>
          <a:xfrm>
            <a:off x="3300984" y="1408176"/>
            <a:ext cx="2450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852973fd3_0_88"/>
          <p:cNvSpPr/>
          <p:nvPr/>
        </p:nvSpPr>
        <p:spPr>
          <a:xfrm>
            <a:off x="3337552" y="1417325"/>
            <a:ext cx="194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VP / (VP + FP)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a852973fd3_0_88"/>
          <p:cNvSpPr/>
          <p:nvPr/>
        </p:nvSpPr>
        <p:spPr>
          <a:xfrm>
            <a:off x="3300984" y="169164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valia a qualidade das predições positivas, mostrando a proporção de inadimplentes reais e previstos.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Importante quando o custo de bloquear/reduzir limite de um bom cliente é alto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mas pode mascarar o default.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852973fd3_0_88"/>
          <p:cNvSpPr/>
          <p:nvPr/>
        </p:nvSpPr>
        <p:spPr>
          <a:xfrm>
            <a:off x="6153912" y="107899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1" sz="11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a852973fd3_0_88"/>
          <p:cNvSpPr/>
          <p:nvPr/>
        </p:nvSpPr>
        <p:spPr>
          <a:xfrm>
            <a:off x="6153912" y="169164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Avalia a capacidade de identificar corretamente os clientes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inadimplentes.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Quanto maior, mais alta a capacidade de identificar o default.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a852973fd3_0_88"/>
          <p:cNvSpPr/>
          <p:nvPr/>
        </p:nvSpPr>
        <p:spPr>
          <a:xfrm>
            <a:off x="320040" y="2907792"/>
            <a:ext cx="2651700" cy="1783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852973fd3_0_88"/>
          <p:cNvSpPr/>
          <p:nvPr/>
        </p:nvSpPr>
        <p:spPr>
          <a:xfrm>
            <a:off x="320040" y="2907792"/>
            <a:ext cx="2651700" cy="45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852973fd3_0_88"/>
          <p:cNvSpPr/>
          <p:nvPr/>
        </p:nvSpPr>
        <p:spPr>
          <a:xfrm>
            <a:off x="448056" y="299923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a852973fd3_0_88"/>
          <p:cNvSpPr/>
          <p:nvPr/>
        </p:nvSpPr>
        <p:spPr>
          <a:xfrm>
            <a:off x="2148840" y="2999232"/>
            <a:ext cx="749700" cy="237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852973fd3_0_88"/>
          <p:cNvSpPr/>
          <p:nvPr/>
        </p:nvSpPr>
        <p:spPr>
          <a:xfrm>
            <a:off x="2148840" y="2999232"/>
            <a:ext cx="749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a852973fd3_0_88"/>
          <p:cNvSpPr/>
          <p:nvPr/>
        </p:nvSpPr>
        <p:spPr>
          <a:xfrm>
            <a:off x="448056" y="3328416"/>
            <a:ext cx="2450700" cy="219600"/>
          </a:xfrm>
          <a:prstGeom prst="rect">
            <a:avLst/>
          </a:prstGeom>
          <a:solidFill>
            <a:srgbClr val="2A3A80"/>
          </a:solidFill>
          <a:ln cap="flat" cmpd="sng" w="12700">
            <a:solidFill>
              <a:srgbClr val="2A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852973fd3_0_88"/>
          <p:cNvSpPr/>
          <p:nvPr/>
        </p:nvSpPr>
        <p:spPr>
          <a:xfrm>
            <a:off x="484627" y="3337550"/>
            <a:ext cx="176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2 × (Precisão × Recall) /   (Precisão + Recall)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a852973fd3_0_88"/>
          <p:cNvSpPr/>
          <p:nvPr/>
        </p:nvSpPr>
        <p:spPr>
          <a:xfrm>
            <a:off x="448056" y="361965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Média harmônica entre Precisão e Recall. </a:t>
            </a:r>
            <a:endParaRPr b="0" i="0" sz="950" u="none" cap="none" strike="noStrike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Ideal para avaliar o compromisso entre detectar o default e evitar erros comerciais.</a:t>
            </a:r>
            <a:endParaRPr sz="950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Métrica mais adequada para bases desbalanceadas.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a852973fd3_0_88"/>
          <p:cNvSpPr/>
          <p:nvPr/>
        </p:nvSpPr>
        <p:spPr>
          <a:xfrm>
            <a:off x="3300984" y="299923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a852973fd3_0_88"/>
          <p:cNvSpPr/>
          <p:nvPr/>
        </p:nvSpPr>
        <p:spPr>
          <a:xfrm>
            <a:off x="3300984" y="361188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Mede a capacidade de separar as classes em todos os limiares possíveis. 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Varia de 0,5 (aleatório) a 1,0 (perfeito)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a852973fd3_0_88"/>
          <p:cNvSpPr/>
          <p:nvPr/>
        </p:nvSpPr>
        <p:spPr>
          <a:xfrm>
            <a:off x="6025896" y="2907792"/>
            <a:ext cx="26517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852973fd3_0_88"/>
          <p:cNvSpPr/>
          <p:nvPr/>
        </p:nvSpPr>
        <p:spPr>
          <a:xfrm>
            <a:off x="6025896" y="2907792"/>
            <a:ext cx="2651700" cy="45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852973fd3_0_88"/>
          <p:cNvSpPr/>
          <p:nvPr/>
        </p:nvSpPr>
        <p:spPr>
          <a:xfrm>
            <a:off x="6153912" y="2999232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Matriz de Confusão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a852973fd3_0_88"/>
          <p:cNvSpPr/>
          <p:nvPr/>
        </p:nvSpPr>
        <p:spPr>
          <a:xfrm>
            <a:off x="6153912" y="3328416"/>
            <a:ext cx="2450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852973fd3_0_88"/>
          <p:cNvSpPr/>
          <p:nvPr/>
        </p:nvSpPr>
        <p:spPr>
          <a:xfrm>
            <a:off x="6190488" y="333756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VP · FP · FN · VN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a852973fd3_0_88"/>
          <p:cNvSpPr/>
          <p:nvPr/>
        </p:nvSpPr>
        <p:spPr>
          <a:xfrm>
            <a:off x="6153912" y="3611880"/>
            <a:ext cx="2450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tabular que exibe os valores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VP: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Inadimplente detectado;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VN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 Adimplente detectado;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 Adimplente classificado como inadimplente;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FN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 I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nadimplente não detectado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a852973fd3_0_88"/>
          <p:cNvSpPr/>
          <p:nvPr/>
        </p:nvSpPr>
        <p:spPr>
          <a:xfrm>
            <a:off x="320050" y="4846200"/>
            <a:ext cx="8335800" cy="219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852973fd3_0_88"/>
          <p:cNvSpPr/>
          <p:nvPr/>
        </p:nvSpPr>
        <p:spPr>
          <a:xfrm>
            <a:off x="409202" y="4812511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VP = Verdadeiro Positivo (inadimplente detectado)   |   FP = Falso Positivo (adimplente classificado como inadimplente)   |   FN = Falso Negativo (inadimplente não detectado)   |   VN = Verdadeiro Negativo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a852973fd3_0_88"/>
          <p:cNvSpPr/>
          <p:nvPr/>
        </p:nvSpPr>
        <p:spPr>
          <a:xfrm>
            <a:off x="6126139" y="1412953"/>
            <a:ext cx="2450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852973fd3_0_88"/>
          <p:cNvSpPr/>
          <p:nvPr/>
        </p:nvSpPr>
        <p:spPr>
          <a:xfrm>
            <a:off x="6162707" y="1422102"/>
            <a:ext cx="194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VP / (VP + F</a:t>
            </a:r>
            <a:r>
              <a:rPr lang="en-US" sz="8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a852973fd3_0_88"/>
          <p:cNvSpPr/>
          <p:nvPr/>
        </p:nvSpPr>
        <p:spPr>
          <a:xfrm>
            <a:off x="3172993" y="2924709"/>
            <a:ext cx="2651700" cy="45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a852973fd3_0_88"/>
          <p:cNvSpPr/>
          <p:nvPr/>
        </p:nvSpPr>
        <p:spPr>
          <a:xfrm>
            <a:off x="3273496" y="3334642"/>
            <a:ext cx="2450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852973fd3_0_88"/>
          <p:cNvSpPr/>
          <p:nvPr/>
        </p:nvSpPr>
        <p:spPr>
          <a:xfrm>
            <a:off x="3319748" y="3339301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Área sob a curva ROC (TPR × FPR)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a852973fd3_0_88"/>
          <p:cNvSpPr/>
          <p:nvPr/>
        </p:nvSpPr>
        <p:spPr>
          <a:xfrm>
            <a:off x="6022817" y="991952"/>
            <a:ext cx="2651700" cy="45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852973fd3_0_88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Camille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Resultados: Comparativo de Modelos (base de teste)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13"/>
          <p:cNvGraphicFramePr/>
          <p:nvPr/>
        </p:nvGraphicFramePr>
        <p:xfrm>
          <a:off x="3657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{BF55EC3D-964B-4165-999E-76911D6B330E}</a:tableStyleId>
              </a:tblPr>
              <a:tblGrid>
                <a:gridCol w="2194550"/>
                <a:gridCol w="1188725"/>
                <a:gridCol w="1188725"/>
                <a:gridCol w="1188725"/>
                <a:gridCol w="1188725"/>
                <a:gridCol w="14630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Acur</a:t>
                      </a: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á</a:t>
                      </a: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</a:t>
                      </a: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ã</a:t>
                      </a: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o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(Inad.)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(Inad.)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(Inad.)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ROC-AUC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Regressão Logistíca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0,676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0,366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0,635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0,464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SVM (melhor F1) *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0,775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0,492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0,558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0,523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0,751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F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Random Forest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0,813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0,647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0,335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0,442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0,756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XGBoost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0,755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0,455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0,539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0,493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0,746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Voting Classifier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0,799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0,555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0,472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0,510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0,757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LSTM (maior AUC) *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0,818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0,648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0,386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0,484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0,770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SVM: melhor F1-Score (equilibrio precis</a:t>
            </a:r>
            <a:r>
              <a:rPr i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o/recall)   |   * LSTM: maior ROC-AUC (0,770), por</a:t>
            </a:r>
            <a:r>
              <a:rPr i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 recall baixo (0,386)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Camille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852973fd3_0_13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a852973fd3_0_13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852973fd3_0_137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g3a852973fd3_0_137"/>
          <p:cNvGrpSpPr/>
          <p:nvPr/>
        </p:nvGrpSpPr>
        <p:grpSpPr>
          <a:xfrm>
            <a:off x="381000" y="1047752"/>
            <a:ext cx="2667000" cy="2370906"/>
            <a:chOff x="381000" y="1047750"/>
            <a:chExt cx="2667000" cy="3238500"/>
          </a:xfrm>
        </p:grpSpPr>
        <p:sp>
          <p:nvSpPr>
            <p:cNvPr id="239" name="Google Shape;239;g3a852973fd3_0_137"/>
            <p:cNvSpPr/>
            <p:nvPr/>
          </p:nvSpPr>
          <p:spPr>
            <a:xfrm>
              <a:off x="381000" y="10477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g3a852973fd3_0_137"/>
            <p:cNvSpPr/>
            <p:nvPr/>
          </p:nvSpPr>
          <p:spPr>
            <a:xfrm>
              <a:off x="381000" y="104775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2A3A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g3a852973fd3_0_137"/>
            <p:cNvSpPr/>
            <p:nvPr/>
          </p:nvSpPr>
          <p:spPr>
            <a:xfrm>
              <a:off x="381000" y="1238250"/>
              <a:ext cx="2667000" cy="190500"/>
            </a:xfrm>
            <a:prstGeom prst="rect">
              <a:avLst/>
            </a:prstGeom>
            <a:solidFill>
              <a:srgbClr val="2A3A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3a852973fd3_0_137"/>
            <p:cNvSpPr txBox="1"/>
            <p:nvPr/>
          </p:nvSpPr>
          <p:spPr>
            <a:xfrm>
              <a:off x="523875" y="10477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Problema de Negócio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3a852973fd3_0_137"/>
            <p:cNvSpPr txBox="1"/>
            <p:nvPr/>
          </p:nvSpPr>
          <p:spPr>
            <a:xfrm>
              <a:off x="523875" y="1476375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Identificar inadimplentes é essencial para:</a:t>
              </a:r>
              <a:endParaRPr b="1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Reduzir perdas financeiras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Minimizar impactos na PDD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64748B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Melhorar concessão de crédito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g3a852973fd3_0_137"/>
          <p:cNvGrpSpPr/>
          <p:nvPr/>
        </p:nvGrpSpPr>
        <p:grpSpPr>
          <a:xfrm>
            <a:off x="3238500" y="1047752"/>
            <a:ext cx="2667000" cy="2370906"/>
            <a:chOff x="3238500" y="1047750"/>
            <a:chExt cx="2667000" cy="3238500"/>
          </a:xfrm>
        </p:grpSpPr>
        <p:sp>
          <p:nvSpPr>
            <p:cNvPr id="245" name="Google Shape;245;g3a852973fd3_0_137"/>
            <p:cNvSpPr/>
            <p:nvPr/>
          </p:nvSpPr>
          <p:spPr>
            <a:xfrm>
              <a:off x="3238500" y="10477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g3a852973fd3_0_137"/>
            <p:cNvSpPr/>
            <p:nvPr/>
          </p:nvSpPr>
          <p:spPr>
            <a:xfrm>
              <a:off x="3238500" y="104775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g3a852973fd3_0_137"/>
            <p:cNvSpPr/>
            <p:nvPr/>
          </p:nvSpPr>
          <p:spPr>
            <a:xfrm>
              <a:off x="3238500" y="1238250"/>
              <a:ext cx="2667000" cy="1905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a852973fd3_0_137"/>
            <p:cNvSpPr txBox="1"/>
            <p:nvPr/>
          </p:nvSpPr>
          <p:spPr>
            <a:xfrm>
              <a:off x="3381375" y="10477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Métrica: F1-score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a852973fd3_0_137"/>
            <p:cNvSpPr txBox="1"/>
            <p:nvPr/>
          </p:nvSpPr>
          <p:spPr>
            <a:xfrm>
              <a:off x="3381375" y="1476375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Relevante devido ao desbalanceamento:</a:t>
              </a:r>
              <a:endParaRPr b="1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Equilíbrio</a:t>
              </a:r>
              <a:r>
                <a:rPr lang="en-US" sz="10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precisão e recall</a:t>
              </a:r>
              <a:endParaRPr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Reduz risco de ignorar inadimplentes</a:t>
              </a:r>
              <a:endParaRPr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500"/>
                </a:spcBef>
                <a:spcAft>
                  <a:spcPts val="500"/>
                </a:spcAft>
                <a:buClr>
                  <a:srgbClr val="64748B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Avalia simultaneamente identificação e qualidade</a:t>
              </a:r>
              <a:endParaRPr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g3a852973fd3_0_137"/>
          <p:cNvGrpSpPr/>
          <p:nvPr/>
        </p:nvGrpSpPr>
        <p:grpSpPr>
          <a:xfrm>
            <a:off x="6096000" y="1047752"/>
            <a:ext cx="2667000" cy="2370906"/>
            <a:chOff x="6096000" y="1047750"/>
            <a:chExt cx="2667000" cy="3238500"/>
          </a:xfrm>
        </p:grpSpPr>
        <p:sp>
          <p:nvSpPr>
            <p:cNvPr id="251" name="Google Shape;251;g3a852973fd3_0_137"/>
            <p:cNvSpPr/>
            <p:nvPr/>
          </p:nvSpPr>
          <p:spPr>
            <a:xfrm>
              <a:off x="6096000" y="10477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g3a852973fd3_0_137"/>
            <p:cNvSpPr/>
            <p:nvPr/>
          </p:nvSpPr>
          <p:spPr>
            <a:xfrm>
              <a:off x="6096000" y="104775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g3a852973fd3_0_137"/>
            <p:cNvSpPr/>
            <p:nvPr/>
          </p:nvSpPr>
          <p:spPr>
            <a:xfrm>
              <a:off x="6096000" y="1238250"/>
              <a:ext cx="2667000" cy="19050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g3a852973fd3_0_137"/>
            <p:cNvSpPr txBox="1"/>
            <p:nvPr/>
          </p:nvSpPr>
          <p:spPr>
            <a:xfrm>
              <a:off x="6238875" y="104775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Melhor Resultado: SVM</a:t>
              </a:r>
              <a:endParaRPr b="1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a852973fd3_0_137"/>
            <p:cNvSpPr txBox="1"/>
            <p:nvPr/>
          </p:nvSpPr>
          <p:spPr>
            <a:xfrm>
              <a:off x="6238875" y="1476375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2C39A"/>
                  </a:solidFill>
                  <a:latin typeface="Calibri"/>
                  <a:ea typeface="Calibri"/>
                  <a:cs typeface="Calibri"/>
                  <a:sym typeface="Calibri"/>
                </a:rPr>
                <a:t>Support Vector Machine</a:t>
              </a:r>
              <a:endParaRPr b="1" sz="10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0F4F8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F0F4F8"/>
                  </a:solidFill>
                  <a:latin typeface="Calibri"/>
                  <a:ea typeface="Calibri"/>
                  <a:cs typeface="Calibri"/>
                  <a:sym typeface="Calibri"/>
                </a:rPr>
                <a:t>Maior F1-score Classe 1: </a:t>
              </a: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0,5230</a:t>
              </a:r>
              <a:endParaRPr sz="10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500"/>
                </a:spcBef>
                <a:spcAft>
                  <a:spcPts val="0"/>
                </a:spcAft>
                <a:buClr>
                  <a:srgbClr val="F0F4F8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F0F4F8"/>
                  </a:solidFill>
                  <a:latin typeface="Calibri"/>
                  <a:ea typeface="Calibri"/>
                  <a:cs typeface="Calibri"/>
                  <a:sym typeface="Calibri"/>
                </a:rPr>
                <a:t>Equilíbrio entre identificação e confiabilidade</a:t>
              </a:r>
              <a:endParaRPr sz="10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500"/>
                </a:spcBef>
                <a:spcAft>
                  <a:spcPts val="500"/>
                </a:spcAft>
                <a:buClr>
                  <a:srgbClr val="F0F4F8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F0F4F8"/>
                  </a:solidFill>
                  <a:latin typeface="Calibri"/>
                  <a:ea typeface="Calibri"/>
                  <a:cs typeface="Calibri"/>
                  <a:sym typeface="Calibri"/>
                </a:rPr>
                <a:t>Melhor aderência ao objetivo de negócio</a:t>
              </a:r>
              <a:endParaRPr sz="10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g3a852973fd3_0_137"/>
          <p:cNvGrpSpPr/>
          <p:nvPr/>
        </p:nvGrpSpPr>
        <p:grpSpPr>
          <a:xfrm>
            <a:off x="381000" y="3636249"/>
            <a:ext cx="8382000" cy="683739"/>
            <a:chOff x="381000" y="3636200"/>
            <a:chExt cx="8382000" cy="1031125"/>
          </a:xfrm>
        </p:grpSpPr>
        <p:sp>
          <p:nvSpPr>
            <p:cNvPr id="257" name="Google Shape;257;g3a852973fd3_0_137"/>
            <p:cNvSpPr/>
            <p:nvPr/>
          </p:nvSpPr>
          <p:spPr>
            <a:xfrm>
              <a:off x="381000" y="4429125"/>
              <a:ext cx="8382000" cy="238200"/>
            </a:xfrm>
            <a:prstGeom prst="roundRect">
              <a:avLst>
                <a:gd fmla="val 16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g3a852973fd3_0_137"/>
            <p:cNvSpPr txBox="1"/>
            <p:nvPr/>
          </p:nvSpPr>
          <p:spPr>
            <a:xfrm>
              <a:off x="476250" y="3636200"/>
              <a:ext cx="8191500" cy="10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Pesquisas Futuras:</a:t>
              </a:r>
              <a:r>
                <a:rPr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Otimização de hiperparâmetros para o SVM, e também para outros modelos que </a:t>
              </a:r>
              <a:r>
                <a:rPr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obtiveram</a:t>
              </a:r>
              <a:r>
                <a:rPr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resultados competitivos LSTM (alta acurácia/ROC mas baixo recall) e Voting Classifier.</a:t>
              </a:r>
              <a:endParaRPr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9" name="Google Shape;259;g3a852973fd3_0_137"/>
          <p:cNvPicPr preferRelativeResize="0"/>
          <p:nvPr/>
        </p:nvPicPr>
        <p:blipFill rotWithShape="1">
          <a:blip r:embed="rId4">
            <a:alphaModFix/>
          </a:blip>
          <a:srcRect b="20004" l="0" r="0" t="19998"/>
          <a:stretch/>
        </p:blipFill>
        <p:spPr>
          <a:xfrm>
            <a:off x="7810500" y="4762500"/>
            <a:ext cx="11430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a852973fd3_0_137"/>
          <p:cNvSpPr/>
          <p:nvPr/>
        </p:nvSpPr>
        <p:spPr>
          <a:xfrm>
            <a:off x="-1196525" y="209775"/>
            <a:ext cx="924600" cy="27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Raul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Camille M. Pleger  |  Raul C. Rodrigues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{camille.pleger, raul.constanski}@pucpr.edu.br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PUCPR  |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2026-05-09T14:32:56Z</dcterms:created>
  <dc:creator>PptxGenJS</dc:creator>
</cp:coreProperties>
</file>
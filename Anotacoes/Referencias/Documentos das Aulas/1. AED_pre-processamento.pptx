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8"/>
  </p:notesMasterIdLst>
  <p:handoutMasterIdLst>
    <p:handoutMasterId r:id="rId69"/>
  </p:handoutMasterIdLst>
  <p:sldIdLst>
    <p:sldId id="348" r:id="rId5"/>
    <p:sldId id="384" r:id="rId6"/>
    <p:sldId id="381" r:id="rId7"/>
    <p:sldId id="353" r:id="rId8"/>
    <p:sldId id="385" r:id="rId9"/>
    <p:sldId id="350" r:id="rId10"/>
    <p:sldId id="380" r:id="rId11"/>
    <p:sldId id="395" r:id="rId12"/>
    <p:sldId id="393" r:id="rId13"/>
    <p:sldId id="394" r:id="rId14"/>
    <p:sldId id="386" r:id="rId15"/>
    <p:sldId id="387" r:id="rId16"/>
    <p:sldId id="351" r:id="rId17"/>
    <p:sldId id="341" r:id="rId18"/>
    <p:sldId id="356" r:id="rId19"/>
    <p:sldId id="352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82" r:id="rId37"/>
    <p:sldId id="373" r:id="rId38"/>
    <p:sldId id="383" r:id="rId39"/>
    <p:sldId id="376" r:id="rId40"/>
    <p:sldId id="375" r:id="rId41"/>
    <p:sldId id="377" r:id="rId42"/>
    <p:sldId id="378" r:id="rId43"/>
    <p:sldId id="379" r:id="rId44"/>
    <p:sldId id="396" r:id="rId45"/>
    <p:sldId id="397" r:id="rId46"/>
    <p:sldId id="354" r:id="rId47"/>
    <p:sldId id="398" r:id="rId48"/>
    <p:sldId id="402" r:id="rId49"/>
    <p:sldId id="403" r:id="rId50"/>
    <p:sldId id="404" r:id="rId51"/>
    <p:sldId id="405" r:id="rId52"/>
    <p:sldId id="401" r:id="rId53"/>
    <p:sldId id="388" r:id="rId54"/>
    <p:sldId id="389" r:id="rId55"/>
    <p:sldId id="390" r:id="rId56"/>
    <p:sldId id="391" r:id="rId57"/>
    <p:sldId id="392" r:id="rId58"/>
    <p:sldId id="406" r:id="rId59"/>
    <p:sldId id="407" r:id="rId60"/>
    <p:sldId id="408" r:id="rId61"/>
    <p:sldId id="409" r:id="rId62"/>
    <p:sldId id="410" r:id="rId63"/>
    <p:sldId id="411" r:id="rId64"/>
    <p:sldId id="399" r:id="rId65"/>
    <p:sldId id="400" r:id="rId66"/>
    <p:sldId id="347" r:id="rId6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 varScale="1">
        <p:scale>
          <a:sx n="103" d="100"/>
          <a:sy n="103" d="100"/>
        </p:scale>
        <p:origin x="48" y="60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commentAuthors" Target="commentAuthors.xml"/><Relationship Id="rId75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608A2FC-94EB-4E78-A22A-4C048CB24776}" type="datetime1">
              <a:rPr lang="pt-BR" smtClean="0"/>
              <a:t>22/08/2025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9E9D563E-BCB2-465B-8A3C-AC86CE64F69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AD503E83-D289-449C-983E-79AA9113407F}" type="datetime1">
              <a:rPr lang="pt-BR" smtClean="0"/>
              <a:pPr/>
              <a:t>22/08/2025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8B990660-4B7D-4C11-96DB-B19FFA8CA9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9128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12027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80211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25265-A31A-48DD-1887-A8FDC309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FF67EE0-E12C-9EDA-FAEC-A44D97283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0E43411-6476-25D0-5551-E945D1690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2AAAC-1E45-F1B2-802F-0D5963FCC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05552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88971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17638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880A-BC0A-8979-B301-37C617EE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A1B3023-1679-9743-ABBA-39A7E7849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F4B5B0E-7197-0343-5702-B92157496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5DE19A7-AAFA-0A21-906E-49BB53D5E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6173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CCE25-DD14-1EB1-9D31-58873C6A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0BA816-29BA-BEAA-24DE-157946A13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80B83C-C382-80AB-C58A-9A375E111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AC2FE1-D33E-1DA1-F09E-38F2AB6AB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65814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8BC22-A35B-1A95-2465-1A648ED0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20A563E-D57E-AABC-EC7A-5952CE99F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BDDB7BC-0646-8448-DA12-BB1B8959F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FB6B2FE-FE3F-12B2-5DDE-89100FCA9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9508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0DB9-A893-E2AC-3083-F074A852C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9346F70-220D-08B9-3F52-021DF695C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6177D19-2BDF-254A-7C0A-FEFF8279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E0FE8FA-AD2A-1A54-A1FC-073E7EFBF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18936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718A-CDBE-BD8C-098E-5C03FCA38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9416FBA-3DDF-819A-8945-6290027EA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B6883A5-FF59-4DDF-8097-854426CBC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DFF7477-B972-7866-D6E8-E38B7DA73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87144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13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51359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74796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15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29950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91974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40983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21632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675787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5195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095718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38251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23925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78257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002031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469115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89428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28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374273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435191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565670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114418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927316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439930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538491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619833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36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434093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822881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073557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720679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463860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41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802119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88971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20777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974814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120162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2364284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47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841333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828013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042539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50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432930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19680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352838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601282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0476385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55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3186265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01470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57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5660098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9886604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447876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802300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681399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6855260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pt-BR" sz="4000" b="1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 Título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pt-BR" sz="2800"/>
            </a:lvl1pPr>
            <a:lvl2pPr marL="457200" indent="0">
              <a:buNone/>
              <a:defRPr lang="pt-BR" sz="2400"/>
            </a:lvl2pPr>
            <a:lvl3pPr marL="914400" indent="0">
              <a:buNone/>
              <a:defRPr lang="pt-BR" sz="20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675" name="Espaço Reservado para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pt-BR" sz="2800"/>
            </a:lvl1pPr>
            <a:lvl2pPr marL="457200" indent="0">
              <a:lnSpc>
                <a:spcPts val="2400"/>
              </a:lnSpc>
              <a:buNone/>
              <a:defRPr lang="pt-BR" sz="2000"/>
            </a:lvl2pPr>
            <a:lvl3pPr marL="914400" indent="0">
              <a:lnSpc>
                <a:spcPts val="2400"/>
              </a:lnSpc>
              <a:buNone/>
              <a:defRPr lang="pt-BR" sz="2000"/>
            </a:lvl3pPr>
            <a:lvl4pPr marL="1371600" indent="0">
              <a:lnSpc>
                <a:spcPts val="2400"/>
              </a:lnSpc>
              <a:buNone/>
              <a:defRPr lang="pt-BR" sz="2000"/>
            </a:lvl4pPr>
            <a:lvl5pPr marL="1828800" indent="0">
              <a:lnSpc>
                <a:spcPts val="2400"/>
              </a:lnSpc>
              <a:buNone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  <a:lvl6pPr marL="1600200">
              <a:defRPr lang="pt-BR"/>
            </a:lvl6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4" rtl="0"/>
            <a:r>
              <a:rPr lang="pt-BR"/>
              <a:t>Quarto nível</a:t>
            </a:r>
          </a:p>
          <a:p>
            <a:pPr lvl="5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pt-BR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pt-BR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pt-BR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pt-BR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 do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pt-BR"/>
            </a:lvl1pPr>
            <a:lvl2pPr>
              <a:spcBef>
                <a:spcPts val="0"/>
              </a:spcBef>
              <a:spcAft>
                <a:spcPts val="600"/>
              </a:spcAft>
              <a:defRPr lang="pt-BR"/>
            </a:lvl2pPr>
            <a:lvl3pPr>
              <a:spcBef>
                <a:spcPts val="0"/>
              </a:spcBef>
              <a:spcAft>
                <a:spcPts val="600"/>
              </a:spcAft>
              <a:defRPr lang="pt-BR"/>
            </a:lvl3pPr>
            <a:lvl4pPr>
              <a:spcBef>
                <a:spcPts val="0"/>
              </a:spcBef>
              <a:spcAft>
                <a:spcPts val="600"/>
              </a:spcAft>
              <a:defRPr lang="pt-BR" sz="2000"/>
            </a:lvl4pPr>
            <a:lvl5pPr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pos="7104">
          <p15:clr>
            <a:srgbClr val="C35EA4"/>
          </p15:clr>
        </p15:guide>
        <p15:guide id="5" pos="57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36751490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atavizcatalogue.com/" TargetMode="External"/><Relationship Id="rId5" Type="http://schemas.openxmlformats.org/officeDocument/2006/relationships/hyperlink" Target="https://www.data-to-viz.com/" TargetMode="External"/><Relationship Id="rId4" Type="http://schemas.openxmlformats.org/officeDocument/2006/relationships/hyperlink" Target="https://python-graph-gallery.com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064" y="2549014"/>
            <a:ext cx="8297380" cy="1326514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200" dirty="0"/>
              <a:t>Ciência de dados – MODELAGEM AVANÇADA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D59DE8-D061-2528-02BA-17B297FD54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2736" y="3071304"/>
            <a:ext cx="7907321" cy="132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 </a:t>
            </a:r>
          </a:p>
          <a:p>
            <a:pPr marL="0" indent="0">
              <a:buNone/>
            </a:pPr>
            <a:r>
              <a:rPr lang="pt-BR" sz="2400" dirty="0"/>
              <a:t>Prof. Luiz Carlos R. Neduziak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612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-405914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LUIZ CARLOS R. NEDUZIAK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3064" y="629785"/>
            <a:ext cx="9462062" cy="5880015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marL="0" indent="0" rtl="0">
              <a:spcAft>
                <a:spcPts val="0"/>
              </a:spcAft>
              <a:buNone/>
            </a:pPr>
            <a:endParaRPr lang="pt-BR" sz="1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 rtl="0">
              <a:spcAft>
                <a:spcPts val="0"/>
              </a:spcAft>
              <a:buNone/>
            </a:pPr>
            <a:endParaRPr lang="pt-BR" sz="1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FORMAÇÃO ACADÊMICA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Pós-Doutor em Ciência da Computação pela Pontifícia Universidade Católica do Paraná (PUCPR).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Doutor em Economia pela Universidade Federal do Paraná (UFPR).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Mestre em Economia pela Universidade Federal do Rio Grande do Sul (UFRGS).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Graduado em Economia pela Universidade Federal do Paraná (UFPR).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Graduado em Ciência da Computação pela Pontifícia Universidade Católica do Paraná (PUCPR).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endParaRPr lang="pt-BR" sz="1400" dirty="0"/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EXPERIÊNCIAS PROFISSIONAIS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Professor Assistente de Ciência de Dados, Lógica de Programação e Microeconomia (PUCPR).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Pesquisador voluntário no CISIA (Centro Integrado de Soluções em Inteligência Artificial) (PUCPR).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endParaRPr lang="pt-BR" sz="1400" dirty="0"/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PRINCIPAIS PUBLICAÇÕES, PALESTRAS E AULAS MAGNAS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Artigo publicado e apresentado na </a:t>
            </a:r>
            <a:r>
              <a:rPr lang="pt-BR" sz="1400" i="1" dirty="0"/>
              <a:t>27th </a:t>
            </a:r>
            <a:r>
              <a:rPr lang="pt-BR" sz="1400" i="1" dirty="0" err="1"/>
              <a:t>International</a:t>
            </a:r>
            <a:r>
              <a:rPr lang="pt-BR" sz="1400" i="1" dirty="0"/>
              <a:t> </a:t>
            </a:r>
            <a:r>
              <a:rPr lang="pt-BR" sz="1400" i="1" dirty="0" err="1"/>
              <a:t>Conference</a:t>
            </a:r>
            <a:r>
              <a:rPr lang="pt-BR" sz="1400" i="1" dirty="0"/>
              <a:t> </a:t>
            </a:r>
            <a:r>
              <a:rPr lang="pt-BR" sz="1400" i="1" dirty="0" err="1"/>
              <a:t>on</a:t>
            </a:r>
            <a:r>
              <a:rPr lang="pt-BR" sz="1400" i="1" dirty="0"/>
              <a:t> </a:t>
            </a:r>
            <a:r>
              <a:rPr lang="pt-BR" sz="1400" i="1" dirty="0" err="1"/>
              <a:t>Pattern</a:t>
            </a:r>
            <a:r>
              <a:rPr lang="pt-BR" sz="1400" i="1" dirty="0"/>
              <a:t> </a:t>
            </a:r>
            <a:r>
              <a:rPr lang="pt-BR" sz="1400" i="1" dirty="0" err="1"/>
              <a:t>Recognition</a:t>
            </a:r>
            <a:r>
              <a:rPr lang="pt-BR" sz="1400" i="1" dirty="0"/>
              <a:t> </a:t>
            </a:r>
            <a:r>
              <a:rPr lang="pt-BR" sz="1400" dirty="0"/>
              <a:t>(ICPR) – “</a:t>
            </a:r>
            <a:r>
              <a:rPr lang="en-US" sz="1400" i="1" dirty="0"/>
              <a:t>Dynamic Modality and View Selection for Multimodal Emotion Recognition with Missing Modalities</a:t>
            </a:r>
            <a:r>
              <a:rPr lang="en-US" sz="1400" dirty="0"/>
              <a:t>”.</a:t>
            </a:r>
            <a:endParaRPr lang="pt-BR" sz="14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Aula Magna (Univille) – “</a:t>
            </a:r>
            <a:r>
              <a:rPr lang="pt-BR" sz="1400" i="1" dirty="0"/>
              <a:t>Inteligência Artificial na Saúde: Novos Caminhos para a Medicina do Futuro</a:t>
            </a:r>
            <a:r>
              <a:rPr lang="pt-BR" sz="1400" dirty="0"/>
              <a:t>”.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sz="1400" dirty="0"/>
              <a:t>Palestra sobre Inteligência Artificial (PUCPR/</a:t>
            </a:r>
            <a:r>
              <a:rPr lang="pt-BR" sz="1400" i="1" dirty="0"/>
              <a:t>Stanford </a:t>
            </a:r>
            <a:r>
              <a:rPr lang="pt-BR" sz="1400" i="1" dirty="0" err="1"/>
              <a:t>University</a:t>
            </a:r>
            <a:r>
              <a:rPr lang="pt-BR" sz="1400" dirty="0"/>
              <a:t>) – “</a:t>
            </a:r>
            <a:r>
              <a:rPr lang="pt-BR" sz="1400" i="1" dirty="0" err="1"/>
              <a:t>From</a:t>
            </a:r>
            <a:r>
              <a:rPr lang="pt-BR" sz="1400" i="1" dirty="0"/>
              <a:t> Data </a:t>
            </a:r>
            <a:r>
              <a:rPr lang="pt-BR" sz="1400" i="1" dirty="0" err="1"/>
              <a:t>to</a:t>
            </a:r>
            <a:r>
              <a:rPr lang="pt-BR" sz="1400" i="1" dirty="0"/>
              <a:t> </a:t>
            </a:r>
            <a:r>
              <a:rPr lang="pt-BR" sz="1400" i="1" dirty="0" err="1"/>
              <a:t>Diagnosis</a:t>
            </a:r>
            <a:r>
              <a:rPr lang="pt-BR" sz="1400" i="1" dirty="0"/>
              <a:t>: The </a:t>
            </a:r>
            <a:r>
              <a:rPr lang="pt-BR" sz="1400" i="1" dirty="0" err="1"/>
              <a:t>Rise</a:t>
            </a:r>
            <a:r>
              <a:rPr lang="pt-BR" sz="1400" i="1" dirty="0"/>
              <a:t> </a:t>
            </a:r>
            <a:r>
              <a:rPr lang="pt-BR" sz="1400" i="1" dirty="0" err="1"/>
              <a:t>of</a:t>
            </a:r>
            <a:r>
              <a:rPr lang="pt-BR" sz="1400" i="1" dirty="0"/>
              <a:t> AI in </a:t>
            </a:r>
            <a:r>
              <a:rPr lang="pt-BR" sz="1400" i="1" dirty="0" err="1"/>
              <a:t>Modern</a:t>
            </a:r>
            <a:r>
              <a:rPr lang="pt-BR" sz="1400" i="1" dirty="0"/>
              <a:t> Healthcare</a:t>
            </a:r>
            <a:r>
              <a:rPr lang="pt-BR" sz="1400" dirty="0"/>
              <a:t>”.</a:t>
            </a:r>
          </a:p>
          <a:p>
            <a:pPr marL="0" indent="0">
              <a:spcAft>
                <a:spcPts val="600"/>
              </a:spcAft>
              <a:buNone/>
            </a:pPr>
            <a:endParaRPr lang="pt-BR" sz="1400" dirty="0"/>
          </a:p>
          <a:p>
            <a:pPr marL="0" indent="0">
              <a:spcAft>
                <a:spcPts val="600"/>
              </a:spcAft>
              <a:buNone/>
            </a:pPr>
            <a:endParaRPr lang="pt-BR" sz="1400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</a:t>
            </a:fld>
            <a:endParaRPr lang="pt-BR" dirty="0"/>
          </a:p>
        </p:txBody>
      </p:sp>
      <p:pic>
        <p:nvPicPr>
          <p:cNvPr id="8" name="Imagem 7" descr="Homem de barba e camisa azul&#10;&#10;O conteúdo gerado por IA pode estar incorreto.">
            <a:extLst>
              <a:ext uri="{FF2B5EF4-FFF2-40B4-BE49-F238E27FC236}">
                <a16:creationId xmlns:a16="http://schemas.microsoft.com/office/drawing/2014/main" id="{F941FCE5-2546-DBE4-8D12-BEB65400F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463" y="257343"/>
            <a:ext cx="1930456" cy="257394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25543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AGENDA (23/08)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607428"/>
            <a:ext cx="8324089" cy="463919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Introdução à Ciência de Dados.</a:t>
            </a:r>
          </a:p>
          <a:p>
            <a:pPr rtl="0"/>
            <a:r>
              <a:rPr lang="pt-BR" dirty="0"/>
              <a:t>Análise Exploratória dos Dados (AED).</a:t>
            </a:r>
          </a:p>
          <a:p>
            <a:pPr rtl="0"/>
            <a:r>
              <a:rPr lang="pt-BR" dirty="0"/>
              <a:t>Visualização dos Dados.</a:t>
            </a:r>
          </a:p>
          <a:p>
            <a:pPr rtl="0"/>
            <a:r>
              <a:rPr lang="pt-BR" i="1" dirty="0"/>
              <a:t>Outliers</a:t>
            </a:r>
            <a:r>
              <a:rPr lang="pt-BR" dirty="0"/>
              <a:t>: o que são e como tratá-los?</a:t>
            </a:r>
          </a:p>
          <a:p>
            <a:pPr rtl="0"/>
            <a:r>
              <a:rPr lang="pt-BR" dirty="0"/>
              <a:t>Técnicas de pré-processamento dos dados.</a:t>
            </a:r>
          </a:p>
          <a:p>
            <a:pPr rtl="0"/>
            <a:r>
              <a:rPr lang="pt-BR" dirty="0"/>
              <a:t>Seleção de Atributos.</a:t>
            </a:r>
          </a:p>
          <a:p>
            <a:r>
              <a:rPr lang="pt-BR" dirty="0"/>
              <a:t>Redução da Dimensionalidade.</a:t>
            </a:r>
          </a:p>
          <a:p>
            <a:r>
              <a:rPr lang="pt-BR" dirty="0"/>
              <a:t>Projeto.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462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3"/>
            <a:ext cx="8297380" cy="1326514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600" dirty="0"/>
              <a:t>Introdução à Ciência de dados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088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CCFAFF-436A-2E85-B6F4-B121EDB23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4E6F0-B6D5-CFA3-20ED-21DBF943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Introdução à Ciência de dados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B7555B9-86CE-E113-6836-ACC4966334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607428"/>
            <a:ext cx="8324089" cy="463919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 </a:t>
            </a:r>
            <a:r>
              <a:rPr lang="pt-BR" b="1" dirty="0"/>
              <a:t>Ciência de Dados </a:t>
            </a:r>
            <a:r>
              <a:rPr lang="pt-BR" dirty="0"/>
              <a:t>é um ramo multidisciplinar da ciência que combina saberes das áreas da </a:t>
            </a:r>
            <a:r>
              <a:rPr lang="pt-BR" b="1" dirty="0"/>
              <a:t>Ciência da Computação</a:t>
            </a:r>
            <a:r>
              <a:rPr lang="pt-BR" dirty="0"/>
              <a:t>, da </a:t>
            </a:r>
            <a:r>
              <a:rPr lang="pt-BR" b="1" dirty="0"/>
              <a:t>Matemática</a:t>
            </a:r>
            <a:r>
              <a:rPr lang="pt-BR" dirty="0"/>
              <a:t>, da </a:t>
            </a:r>
            <a:r>
              <a:rPr lang="pt-BR" b="1" dirty="0"/>
              <a:t>Inteligência Artificial (IA)</a:t>
            </a:r>
            <a:r>
              <a:rPr lang="pt-BR" dirty="0"/>
              <a:t>, da </a:t>
            </a:r>
            <a:r>
              <a:rPr lang="pt-BR" b="1" dirty="0"/>
              <a:t>Estatística</a:t>
            </a:r>
            <a:r>
              <a:rPr lang="pt-BR" dirty="0"/>
              <a:t> e da </a:t>
            </a:r>
            <a:r>
              <a:rPr lang="pt-BR" b="1" dirty="0"/>
              <a:t>Otimização</a:t>
            </a:r>
            <a:r>
              <a:rPr lang="pt-BR" dirty="0"/>
              <a:t>.</a:t>
            </a:r>
          </a:p>
          <a:p>
            <a:pPr rtl="0"/>
            <a:r>
              <a:rPr lang="pt-BR" dirty="0"/>
              <a:t>Focada na solução de problemas analíticos complexos utilizando grandes conjuntos de dados como núcleo básico da operação.</a:t>
            </a:r>
          </a:p>
          <a:p>
            <a:pPr rtl="0"/>
            <a:r>
              <a:rPr lang="pt-BR" dirty="0"/>
              <a:t>Envolve etapas como </a:t>
            </a:r>
            <a:r>
              <a:rPr lang="pt-BR" b="1" dirty="0"/>
              <a:t>organização</a:t>
            </a:r>
            <a:r>
              <a:rPr lang="pt-BR" dirty="0"/>
              <a:t>, </a:t>
            </a:r>
            <a:r>
              <a:rPr lang="pt-BR" b="1" dirty="0"/>
              <a:t>limpeza</a:t>
            </a:r>
            <a:r>
              <a:rPr lang="pt-BR" dirty="0"/>
              <a:t>, </a:t>
            </a:r>
            <a:r>
              <a:rPr lang="pt-BR" b="1" dirty="0"/>
              <a:t>validação</a:t>
            </a:r>
            <a:r>
              <a:rPr lang="pt-BR" dirty="0"/>
              <a:t> e </a:t>
            </a:r>
            <a:r>
              <a:rPr lang="pt-BR" b="1" dirty="0"/>
              <a:t>uso de dados</a:t>
            </a:r>
            <a:r>
              <a:rPr lang="pt-BR" dirty="0"/>
              <a:t> na tomada de decisão.</a:t>
            </a:r>
          </a:p>
          <a:p>
            <a:pPr rtl="0"/>
            <a:r>
              <a:rPr lang="pt-BR" dirty="0"/>
              <a:t>Exige o conhecimento de diferentes técnicas aplicadas a cada etapa do processo de Ciência de Dados.</a:t>
            </a:r>
          </a:p>
          <a:p>
            <a:pPr rtl="0"/>
            <a:r>
              <a:rPr lang="pt-BR" dirty="0"/>
              <a:t>Considera </a:t>
            </a:r>
            <a:r>
              <a:rPr lang="pt-BR" b="1" dirty="0"/>
              <a:t>princípios éticos </a:t>
            </a:r>
            <a:r>
              <a:rPr lang="pt-BR" dirty="0"/>
              <a:t>ao lidar com dados e suas implicações.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06B4F07-D316-9322-60C8-04E48BAC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5966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 dirty="0"/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200C1F51-2B95-B20E-9800-84BF44688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082" y="1340736"/>
            <a:ext cx="8137663" cy="415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0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  <p:pic>
        <p:nvPicPr>
          <p:cNvPr id="13" name="Imagem 12" descr="Uma imagem contendo Aplicativo">
            <a:extLst>
              <a:ext uri="{FF2B5EF4-FFF2-40B4-BE49-F238E27FC236}">
                <a16:creationId xmlns:a16="http://schemas.microsoft.com/office/drawing/2014/main" id="{152E445E-CEE1-7E66-7B79-1A89A26A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553" y="448035"/>
            <a:ext cx="4371975" cy="5695950"/>
          </a:xfrm>
          <a:prstGeom prst="rect">
            <a:avLst/>
          </a:prstGeom>
        </p:spPr>
      </p:pic>
      <p:pic>
        <p:nvPicPr>
          <p:cNvPr id="4" name="Imagem 3" descr="Diagrama&#10;&#10;Descrição gerada automaticamente com confiança baixa">
            <a:extLst>
              <a:ext uri="{FF2B5EF4-FFF2-40B4-BE49-F238E27FC236}">
                <a16:creationId xmlns:a16="http://schemas.microsoft.com/office/drawing/2014/main" id="{C7171546-86EA-ADFC-180B-28166DFD7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947" y="1585023"/>
            <a:ext cx="4480906" cy="335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15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E9D3B5-405B-E174-0A2D-0A040620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A0189-5578-2A37-5A9E-4591237A9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6142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PROCESSO DE CIÊNCIA DE DADOS (CRISP-DM)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6A050CBF-470D-B3AC-8E54-97494B44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41A8D3A0-E6AD-F82E-C98D-884E6C968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381" y="1564730"/>
            <a:ext cx="5040775" cy="488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42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74A8-25C1-4FBC-6920-1E4C80494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C272BDF8-97C9-18D3-0DE6-5F162AED0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394DA8-DD03-7493-C516-088A89BF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766" y="2679643"/>
            <a:ext cx="8541348" cy="1425430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big data e ciência de dados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4E4BAF-AF8B-A481-1490-AFA81BF03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8524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DB1592-47F7-CBB8-83D9-B92EE773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132C1-DAA4-C89D-733D-EBE1DDD7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 data</a:t>
            </a:r>
            <a:r>
              <a:rPr lang="pt-BR" dirty="0"/>
              <a:t> e Ciência de dados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B1EEB63-EC68-0BEB-E675-6A1E089B37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607428"/>
            <a:ext cx="8637568" cy="463919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O </a:t>
            </a:r>
            <a:r>
              <a:rPr lang="pt-BR" b="1" dirty="0"/>
              <a:t>Big Data </a:t>
            </a:r>
            <a:r>
              <a:rPr lang="pt-BR" dirty="0"/>
              <a:t>é uma tecnologia para o processamento de dados.</a:t>
            </a:r>
          </a:p>
          <a:p>
            <a:pPr rtl="0"/>
            <a:r>
              <a:rPr lang="pt-BR" dirty="0"/>
              <a:t>A taxonomia do </a:t>
            </a:r>
            <a:r>
              <a:rPr lang="pt-BR" b="1" dirty="0"/>
              <a:t>Big Data </a:t>
            </a:r>
            <a:r>
              <a:rPr lang="pt-BR" dirty="0"/>
              <a:t>é definida pelos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 Vs</a:t>
            </a:r>
            <a:r>
              <a:rPr lang="pt-BR" dirty="0"/>
              <a:t>.</a:t>
            </a:r>
          </a:p>
          <a:p>
            <a:pPr rtl="0"/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Volume</a:t>
            </a:r>
            <a:r>
              <a:rPr lang="pt-BR" dirty="0"/>
              <a:t>,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Variedade</a:t>
            </a:r>
            <a:r>
              <a:rPr lang="pt-BR" dirty="0"/>
              <a:t> e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Velocidade (3 </a:t>
            </a:r>
            <a:r>
              <a:rPr lang="pt-BR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Vs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r>
              <a:rPr lang="pt-BR" dirty="0"/>
              <a:t>.</a:t>
            </a:r>
          </a:p>
          <a:p>
            <a:pPr marL="0" indent="0" rtl="0">
              <a:buNone/>
            </a:pPr>
            <a:endParaRPr lang="pt-BR" dirty="0"/>
          </a:p>
          <a:p>
            <a:pPr lvl="1"/>
            <a:r>
              <a:rPr lang="pt-BR" sz="1800" u="sng" dirty="0"/>
              <a:t>Volume</a:t>
            </a:r>
            <a:r>
              <a:rPr lang="pt-BR" sz="1800" dirty="0"/>
              <a:t>: como armazenar grandes volumes de dados.</a:t>
            </a:r>
          </a:p>
          <a:p>
            <a:pPr lvl="1"/>
            <a:r>
              <a:rPr lang="pt-BR" sz="1800" u="sng" dirty="0"/>
              <a:t>Variedade</a:t>
            </a:r>
            <a:r>
              <a:rPr lang="pt-BR" sz="1800" dirty="0"/>
              <a:t>: como integrar diferentes tipos de dados.</a:t>
            </a:r>
          </a:p>
          <a:p>
            <a:pPr lvl="1"/>
            <a:r>
              <a:rPr lang="pt-BR" sz="1800" u="sng" dirty="0"/>
              <a:t>Velocidade</a:t>
            </a:r>
            <a:r>
              <a:rPr lang="pt-BR" sz="1800" dirty="0"/>
              <a:t>: como lidar com séries de tempo (</a:t>
            </a:r>
            <a:r>
              <a:rPr lang="pt-BR" sz="1800" i="1" dirty="0"/>
              <a:t>streaming </a:t>
            </a:r>
            <a:r>
              <a:rPr lang="pt-BR" sz="1800" dirty="0"/>
              <a:t>de dados). 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10773C50-5D74-E430-BF43-20D0EE12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1357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C0FFD1-8A83-E83C-F710-244612F5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AACAC-A58D-F0EE-2301-78376EE8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Big data e Ciência de dados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20B948A-A483-D7AA-4DCC-F5ABA56569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607428"/>
            <a:ext cx="8637568" cy="463919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b="1" dirty="0"/>
              <a:t>Big Data </a:t>
            </a:r>
            <a:r>
              <a:rPr lang="pt-BR" dirty="0"/>
              <a:t>são conjuntos de dados suficientemente grandes e complexos para serem gerenciados por tecnologias tradicionais de gerenciamento de dados, exigindo o desenvolvimento de novas técnicas e ferramentas de armazenamento e processamento de dados.</a:t>
            </a:r>
          </a:p>
          <a:p>
            <a:pPr rtl="0"/>
            <a:r>
              <a:rPr lang="pt-BR" i="1" dirty="0" err="1"/>
              <a:t>MapReduce</a:t>
            </a:r>
            <a:r>
              <a:rPr lang="pt-BR" dirty="0"/>
              <a:t>, </a:t>
            </a:r>
            <a:r>
              <a:rPr lang="pt-BR" i="1" dirty="0" err="1"/>
              <a:t>Hadoop</a:t>
            </a:r>
            <a:r>
              <a:rPr lang="pt-BR" dirty="0"/>
              <a:t> e </a:t>
            </a:r>
            <a:r>
              <a:rPr lang="pt-BR" i="1" dirty="0"/>
              <a:t>Spark.</a:t>
            </a:r>
          </a:p>
          <a:p>
            <a:r>
              <a:rPr lang="pt-BR" dirty="0"/>
              <a:t>Portanto, o </a:t>
            </a:r>
            <a:r>
              <a:rPr lang="pt-BR" b="1" dirty="0"/>
              <a:t>Big Data </a:t>
            </a:r>
            <a:r>
              <a:rPr lang="pt-BR" dirty="0"/>
              <a:t>está relacionado, fundamentalmente, à tecnologia.</a:t>
            </a:r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13B0C7C5-82C3-923D-740E-747D5F88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4117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14BAEF-11D2-BDF2-0EA8-5F0E76C9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49BA3-F46F-BC62-3581-FB5F6CB1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Big data e Ciência de dados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B02A29D-B3F8-71BB-7FDA-4D95FE8467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607428"/>
            <a:ext cx="8637568" cy="463919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 </a:t>
            </a:r>
            <a:r>
              <a:rPr lang="pt-BR" b="1" dirty="0"/>
              <a:t>Ciência de Dados </a:t>
            </a:r>
            <a:r>
              <a:rPr lang="pt-BR" dirty="0"/>
              <a:t>está relacionada à criação de modelos capazes de extrair padrões de dados complexos e ao uso desses modelos no processo de tomada de decisão.</a:t>
            </a:r>
          </a:p>
          <a:p>
            <a:pPr rtl="0"/>
            <a:r>
              <a:rPr lang="pt-BR" dirty="0"/>
              <a:t>A </a:t>
            </a:r>
            <a:r>
              <a:rPr lang="pt-BR" b="1" dirty="0"/>
              <a:t>Ciência de Dados </a:t>
            </a:r>
            <a:r>
              <a:rPr lang="pt-BR" dirty="0"/>
              <a:t>extrai conhecimento que é útil e significativo com o apoio de um ambiente computacional propício (</a:t>
            </a:r>
            <a:r>
              <a:rPr lang="pt-BR" b="1" dirty="0"/>
              <a:t>Big Data</a:t>
            </a:r>
            <a:r>
              <a:rPr lang="pt-BR" dirty="0"/>
              <a:t>).</a:t>
            </a:r>
          </a:p>
          <a:p>
            <a:pPr rtl="0"/>
            <a:r>
              <a:rPr lang="pt-BR" dirty="0"/>
              <a:t>Enquanto o </a:t>
            </a:r>
            <a:r>
              <a:rPr lang="pt-BR" b="1" dirty="0"/>
              <a:t>Big Data </a:t>
            </a:r>
            <a:r>
              <a:rPr lang="pt-BR" dirty="0"/>
              <a:t>dá suporte ao armazenamento e gerenciamento dos dados, a </a:t>
            </a:r>
            <a:r>
              <a:rPr lang="pt-BR" b="1" dirty="0"/>
              <a:t>Ciência de Dados </a:t>
            </a:r>
            <a:r>
              <a:rPr lang="pt-BR" dirty="0"/>
              <a:t>aplica técnicas a esses dados de modo a descobrir conhecimento útil e significativo.</a:t>
            </a:r>
          </a:p>
          <a:p>
            <a:pPr rtl="0"/>
            <a:endParaRPr lang="pt-BR" dirty="0"/>
          </a:p>
          <a:p>
            <a:pPr marL="0" indent="0" algn="ctr" rtl="0">
              <a:buNone/>
            </a:pPr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“Big Data </a:t>
            </a:r>
            <a:r>
              <a:rPr lang="pt-BR" sz="2200" b="1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collects</a:t>
            </a:r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pt-BR" sz="2200" b="1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and</a:t>
            </a:r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 Data Science </a:t>
            </a:r>
            <a:r>
              <a:rPr lang="pt-BR" sz="2200" b="1" dirty="0" err="1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discovers</a:t>
            </a:r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”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77F66EF-92D9-038F-EB70-A10A13A7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846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064" y="2679642"/>
            <a:ext cx="8297380" cy="1326514"/>
          </a:xfrm>
        </p:spPr>
        <p:txBody>
          <a:bodyPr/>
          <a:lstStyle/>
          <a:p>
            <a:pPr algn="ctr"/>
            <a:r>
              <a:rPr lang="pt-BR" sz="3200" dirty="0"/>
              <a:t>ferramentas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8569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Conteúdo 10" descr="Círculo&#10;&#10;Descrição gerada automaticamente">
            <a:extLst>
              <a:ext uri="{FF2B5EF4-FFF2-40B4-BE49-F238E27FC236}">
                <a16:creationId xmlns:a16="http://schemas.microsoft.com/office/drawing/2014/main" id="{933D767D-065A-5F01-83AB-C30C78390B3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7844788" y="4848225"/>
            <a:ext cx="2857500" cy="1543050"/>
          </a:xfrm>
        </p:spPr>
      </p:pic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14</a:t>
            </a:fld>
            <a:endParaRPr lang="pt-BR" dirty="0"/>
          </a:p>
        </p:txBody>
      </p:sp>
      <p:pic>
        <p:nvPicPr>
          <p:cNvPr id="13" name="Imagem 12" descr="Ícone&#10;&#10;Descrição gerada automaticamente">
            <a:extLst>
              <a:ext uri="{FF2B5EF4-FFF2-40B4-BE49-F238E27FC236}">
                <a16:creationId xmlns:a16="http://schemas.microsoft.com/office/drawing/2014/main" id="{93245170-8647-8437-4AB7-AFA842B43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788" y="296641"/>
            <a:ext cx="3190875" cy="1428750"/>
          </a:xfrm>
          <a:prstGeom prst="rect">
            <a:avLst/>
          </a:prstGeom>
        </p:spPr>
      </p:pic>
      <p:pic>
        <p:nvPicPr>
          <p:cNvPr id="15" name="Imagem 14" descr="Logotipo, nome da empresa&#10;&#10;Descrição gerada automaticamente">
            <a:extLst>
              <a:ext uri="{FF2B5EF4-FFF2-40B4-BE49-F238E27FC236}">
                <a16:creationId xmlns:a16="http://schemas.microsoft.com/office/drawing/2014/main" id="{0A9AFF3C-2DBF-B75B-129D-81FC97FC9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705" y="1776413"/>
            <a:ext cx="3599654" cy="1543050"/>
          </a:xfrm>
          <a:prstGeom prst="rect">
            <a:avLst/>
          </a:prstGeom>
        </p:spPr>
      </p:pic>
      <p:pic>
        <p:nvPicPr>
          <p:cNvPr id="23" name="Imagem 22" descr="Logotipo, nome da empresa&#10;&#10;Descrição gerada automaticamente">
            <a:extLst>
              <a:ext uri="{FF2B5EF4-FFF2-40B4-BE49-F238E27FC236}">
                <a16:creationId xmlns:a16="http://schemas.microsoft.com/office/drawing/2014/main" id="{196F5452-5650-5373-B66C-B857CC2EB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5705" y="3305175"/>
            <a:ext cx="3514725" cy="1428750"/>
          </a:xfrm>
          <a:prstGeom prst="rect">
            <a:avLst/>
          </a:prstGeom>
        </p:spPr>
      </p:pic>
      <p:sp>
        <p:nvSpPr>
          <p:cNvPr id="24" name="Espaço Reservado para Conteúdo 3">
            <a:extLst>
              <a:ext uri="{FF2B5EF4-FFF2-40B4-BE49-F238E27FC236}">
                <a16:creationId xmlns:a16="http://schemas.microsoft.com/office/drawing/2014/main" id="{67A13D53-31B7-D0DB-1C35-AA55EEC9F86A}"/>
              </a:ext>
            </a:extLst>
          </p:cNvPr>
          <p:cNvSpPr txBox="1">
            <a:spLocks/>
          </p:cNvSpPr>
          <p:nvPr/>
        </p:nvSpPr>
        <p:spPr>
          <a:xfrm>
            <a:off x="893763" y="1133476"/>
            <a:ext cx="4887594" cy="437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 b="1" dirty="0"/>
          </a:p>
          <a:p>
            <a:endParaRPr lang="pt-BR" b="1" dirty="0"/>
          </a:p>
          <a:p>
            <a:pPr lvl="1"/>
            <a:r>
              <a:rPr lang="pt-BR" dirty="0"/>
              <a:t>Python/Anaconda</a:t>
            </a:r>
          </a:p>
          <a:p>
            <a:pPr lvl="1"/>
            <a:r>
              <a:rPr lang="pt-BR" dirty="0" err="1"/>
              <a:t>Scikit-Learn</a:t>
            </a:r>
            <a:endParaRPr lang="pt-BR" dirty="0"/>
          </a:p>
          <a:p>
            <a:pPr lvl="1"/>
            <a:r>
              <a:rPr lang="pt-BR" dirty="0" err="1"/>
              <a:t>Numpy</a:t>
            </a:r>
            <a:endParaRPr lang="pt-BR" dirty="0"/>
          </a:p>
          <a:p>
            <a:pPr lvl="1"/>
            <a:r>
              <a:rPr lang="pt-BR" dirty="0"/>
              <a:t>Pandas</a:t>
            </a:r>
          </a:p>
          <a:p>
            <a:pPr lvl="1"/>
            <a:r>
              <a:rPr lang="pt-BR" dirty="0" err="1"/>
              <a:t>Matplotlib</a:t>
            </a:r>
            <a:endParaRPr lang="pt-BR" dirty="0"/>
          </a:p>
          <a:p>
            <a:pPr lvl="1"/>
            <a:r>
              <a:rPr lang="pt-BR" dirty="0" err="1"/>
              <a:t>Seaborn</a:t>
            </a:r>
            <a:endParaRPr lang="pt-BR" dirty="0"/>
          </a:p>
          <a:p>
            <a:pPr lvl="1"/>
            <a:r>
              <a:rPr lang="pt-BR" dirty="0"/>
              <a:t>Google </a:t>
            </a:r>
            <a:r>
              <a:rPr lang="pt-BR" dirty="0" err="1"/>
              <a:t>Colab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EC546B-5A99-E37F-E542-DDFE22C7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429580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ferramentas</a:t>
            </a:r>
          </a:p>
        </p:txBody>
      </p:sp>
      <p:pic>
        <p:nvPicPr>
          <p:cNvPr id="4" name="Imagem 3" descr="Uma imagem contendo Ícone&#10;&#10;Descrição gerada automaticamente">
            <a:extLst>
              <a:ext uri="{FF2B5EF4-FFF2-40B4-BE49-F238E27FC236}">
                <a16:creationId xmlns:a16="http://schemas.microsoft.com/office/drawing/2014/main" id="{C248AF3A-2793-2885-40E8-71F52B640B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8348" y="3172777"/>
            <a:ext cx="2651960" cy="2650232"/>
          </a:xfrm>
          <a:prstGeom prst="rect">
            <a:avLst/>
          </a:prstGeom>
        </p:spPr>
      </p:pic>
      <p:pic>
        <p:nvPicPr>
          <p:cNvPr id="5" name="Imagem 4" descr="Logotipo, Ícone&#10;&#10;Descrição gerada automaticamente">
            <a:extLst>
              <a:ext uri="{FF2B5EF4-FFF2-40B4-BE49-F238E27FC236}">
                <a16:creationId xmlns:a16="http://schemas.microsoft.com/office/drawing/2014/main" id="{CC93E27E-793B-1757-A0EA-7866AD121B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2346" y="831872"/>
            <a:ext cx="3783904" cy="234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827175"/>
            <a:ext cx="8297380" cy="1458899"/>
          </a:xfrm>
        </p:spPr>
        <p:txBody>
          <a:bodyPr>
            <a:normAutofit/>
          </a:bodyPr>
          <a:lstStyle/>
          <a:p>
            <a:pPr algn="ctr"/>
            <a:r>
              <a:rPr lang="pt-BR" sz="3200" dirty="0"/>
              <a:t>Revisão: ANÁLISE EXPLORATÓRIA DE DADOS (AED)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021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ANÁLISE EXPLORATÓRIA DE DADOS (AED)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6358" y="2741421"/>
            <a:ext cx="6178841" cy="36877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Às vezes, ‘coisas’ básicas nos permitem fazer inferências razoáveis sobre os dados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16</a:t>
            </a:fld>
            <a:endParaRPr lang="pt-BR" dirty="0"/>
          </a:p>
        </p:txBody>
      </p:sp>
      <p:pic>
        <p:nvPicPr>
          <p:cNvPr id="11" name="Imagem 10" descr="Uma imagem contendo Diagrama&#10;&#10;Descrição gerada automaticamente">
            <a:extLst>
              <a:ext uri="{FF2B5EF4-FFF2-40B4-BE49-F238E27FC236}">
                <a16:creationId xmlns:a16="http://schemas.microsoft.com/office/drawing/2014/main" id="{7B0B98A3-2591-7B41-43CD-5D432A0B6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789" y="2577249"/>
            <a:ext cx="2475449" cy="264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84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ANÁLISE EXPLORATÓRIA DE DADOS (AED)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078" y="1998190"/>
            <a:ext cx="10265590" cy="869526"/>
          </a:xfrm>
        </p:spPr>
        <p:txBody>
          <a:bodyPr rtlCol="0"/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Existem estatísticas/gráficos que são específicos a determinados tipos de dados.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17</a:t>
            </a:fld>
            <a:endParaRPr lang="pt-BR" dirty="0"/>
          </a:p>
        </p:txBody>
      </p:sp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AF1CB798-A974-1A67-E44D-FA8AAA14CE4F}"/>
              </a:ext>
            </a:extLst>
          </p:cNvPr>
          <p:cNvSpPr txBox="1">
            <a:spLocks/>
          </p:cNvSpPr>
          <p:nvPr/>
        </p:nvSpPr>
        <p:spPr>
          <a:xfrm>
            <a:off x="911352" y="3379014"/>
            <a:ext cx="6178841" cy="869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5552FFD-CFEF-00EC-93B6-A0D44C74F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811564"/>
              </p:ext>
            </p:extLst>
          </p:nvPr>
        </p:nvGraphicFramePr>
        <p:xfrm>
          <a:off x="790054" y="3101687"/>
          <a:ext cx="10552099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61933">
                  <a:extLst>
                    <a:ext uri="{9D8B030D-6E8A-4147-A177-3AD203B41FA5}">
                      <a16:colId xmlns:a16="http://schemas.microsoft.com/office/drawing/2014/main" val="3988606439"/>
                    </a:ext>
                  </a:extLst>
                </a:gridCol>
                <a:gridCol w="1474473">
                  <a:extLst>
                    <a:ext uri="{9D8B030D-6E8A-4147-A177-3AD203B41FA5}">
                      <a16:colId xmlns:a16="http://schemas.microsoft.com/office/drawing/2014/main" val="1614858219"/>
                    </a:ext>
                  </a:extLst>
                </a:gridCol>
                <a:gridCol w="4012163">
                  <a:extLst>
                    <a:ext uri="{9D8B030D-6E8A-4147-A177-3AD203B41FA5}">
                      <a16:colId xmlns:a16="http://schemas.microsoft.com/office/drawing/2014/main" val="4071110067"/>
                    </a:ext>
                  </a:extLst>
                </a:gridCol>
                <a:gridCol w="2303530">
                  <a:extLst>
                    <a:ext uri="{9D8B030D-6E8A-4147-A177-3AD203B41FA5}">
                      <a16:colId xmlns:a16="http://schemas.microsoft.com/office/drawing/2014/main" val="804462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Váriaveis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Exemplos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16838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pt-BR" dirty="0"/>
                        <a:t>Qualitativas/Categóricas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ordem não faz diferença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Gênero, estado civil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3379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Ordinal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ordem </a:t>
                      </a:r>
                      <a:r>
                        <a:rPr lang="pt-BR" dirty="0"/>
                        <a:t>(</a:t>
                      </a:r>
                      <a:r>
                        <a:rPr lang="pt-BR" i="1" dirty="0"/>
                        <a:t>ranking</a:t>
                      </a:r>
                      <a:r>
                        <a:rPr lang="pt-BR" i="0" dirty="0"/>
                        <a:t>)</a:t>
                      </a:r>
                      <a:r>
                        <a:rPr lang="pt-BR" dirty="0"/>
                        <a:t>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faz diferença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Escolaridade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45702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pt-BR" dirty="0"/>
                        <a:t>Quantitativas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Discreta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 pertence a um conjunto finito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Número de filhos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4436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Contínua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 pertence a um conjunto infinito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Inflação, preços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91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560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POPULAÇÃO </a:t>
            </a:r>
            <a:r>
              <a:rPr lang="pt-BR" i="1" dirty="0"/>
              <a:t>VERSUS </a:t>
            </a:r>
            <a:r>
              <a:rPr lang="pt-BR" dirty="0"/>
              <a:t>AMOSTRA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2240202"/>
            <a:ext cx="5675687" cy="3687763"/>
          </a:xfrm>
        </p:spPr>
        <p:txBody>
          <a:bodyPr rtlCol="0"/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 </a:t>
            </a:r>
            <a:r>
              <a:rPr lang="pt-BR" u="sng" dirty="0"/>
              <a:t>população</a:t>
            </a:r>
            <a:r>
              <a:rPr lang="pt-BR" dirty="0"/>
              <a:t> é o conjunto completo de todos os elementos que possuem uma característica específica que está sendo estudada.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 </a:t>
            </a:r>
            <a:r>
              <a:rPr lang="pt-BR" u="sng" dirty="0"/>
              <a:t>amostra</a:t>
            </a:r>
            <a:r>
              <a:rPr lang="pt-BR" dirty="0"/>
              <a:t> é um subconjunto representativo da população, utilizada para fazer inferências sobre a população como um todo.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18</a:t>
            </a:fld>
            <a:endParaRPr lang="pt-BR" dirty="0"/>
          </a:p>
        </p:txBody>
      </p:sp>
      <p:pic>
        <p:nvPicPr>
          <p:cNvPr id="6" name="Imagem 5" descr="Cd com letras e números em fundo branco&#10;&#10;Descrição gerada automaticamente com confiança baixa">
            <a:extLst>
              <a:ext uri="{FF2B5EF4-FFF2-40B4-BE49-F238E27FC236}">
                <a16:creationId xmlns:a16="http://schemas.microsoft.com/office/drawing/2014/main" id="{364E05D4-8F61-EF3B-413C-CB1CF9EE4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523" y="2468721"/>
            <a:ext cx="27622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0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POPULAÇÃO </a:t>
            </a:r>
            <a:r>
              <a:rPr lang="pt-BR" i="1" dirty="0"/>
              <a:t>VERSUS </a:t>
            </a:r>
            <a:r>
              <a:rPr lang="pt-BR" dirty="0"/>
              <a:t>AMOSTRA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 amostra, além de ser representativa da população em estudo, deve ser </a:t>
            </a:r>
            <a:r>
              <a:rPr lang="pt-BR" u="sng" dirty="0"/>
              <a:t>não viesada</a:t>
            </a:r>
            <a:r>
              <a:rPr lang="pt-BR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Uma amostra </a:t>
            </a:r>
            <a:r>
              <a:rPr lang="pt-BR" u="sng" dirty="0"/>
              <a:t>não viesada </a:t>
            </a:r>
            <a:r>
              <a:rPr lang="pt-BR" dirty="0"/>
              <a:t>é aquela em que cada membro da população tem a mesma chance de ser selecionado para a amostra.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Para garantir que uma amostra seja não viesada, é necessário utilizar os seguintes métodos de amostragem:</a:t>
            </a:r>
          </a:p>
          <a:p>
            <a:pPr marL="1485900" lvl="4" indent="-342900"/>
            <a:r>
              <a:rPr lang="pt-BR" dirty="0"/>
              <a:t>Amostragem aleatória.</a:t>
            </a:r>
          </a:p>
          <a:p>
            <a:pPr marL="1485900" lvl="4" indent="-342900"/>
            <a:r>
              <a:rPr lang="pt-BR" dirty="0"/>
              <a:t>Amostragem sistemática.</a:t>
            </a:r>
          </a:p>
          <a:p>
            <a:pPr marL="1485900" lvl="4" indent="-342900"/>
            <a:r>
              <a:rPr lang="pt-BR" dirty="0"/>
              <a:t>Amostragem estratificada.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601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POPULAÇÃO </a:t>
            </a:r>
            <a:r>
              <a:rPr lang="pt-BR" i="1" dirty="0"/>
              <a:t>VERSUS </a:t>
            </a:r>
            <a:r>
              <a:rPr lang="pt-BR" dirty="0"/>
              <a:t>AMOSTRA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9881" y="2034466"/>
            <a:ext cx="10751540" cy="439471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lvl="3" indent="0">
              <a:buNone/>
            </a:pPr>
            <a:r>
              <a:rPr lang="pt-BR" b="1" dirty="0"/>
              <a:t>Amostragem aleatória	Amostragem sistemática	Amostragem estratificada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20</a:t>
            </a:fld>
            <a:endParaRPr lang="pt-BR" dirty="0"/>
          </a:p>
        </p:txBody>
      </p:sp>
      <p:pic>
        <p:nvPicPr>
          <p:cNvPr id="6" name="Imagem 5" descr="Gráfico, Gráfico de dispersão, Quadro de comunicações&#10;&#10;Descrição gerada automaticamente">
            <a:extLst>
              <a:ext uri="{FF2B5EF4-FFF2-40B4-BE49-F238E27FC236}">
                <a16:creationId xmlns:a16="http://schemas.microsoft.com/office/drawing/2014/main" id="{2E3E2266-8683-4C34-E4D5-BA67C4B59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586" y="2739659"/>
            <a:ext cx="1615580" cy="2126164"/>
          </a:xfrm>
          <a:prstGeom prst="rect">
            <a:avLst/>
          </a:prstGeom>
        </p:spPr>
      </p:pic>
      <p:pic>
        <p:nvPicPr>
          <p:cNvPr id="8" name="Imagem 7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EF22BC9B-E85B-3AD9-D74C-0CAA81DE5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397" y="2739659"/>
            <a:ext cx="1661304" cy="2149026"/>
          </a:xfrm>
          <a:prstGeom prst="rect">
            <a:avLst/>
          </a:prstGeom>
        </p:spPr>
      </p:pic>
      <p:pic>
        <p:nvPicPr>
          <p:cNvPr id="10" name="Imagem 9" descr="Gráfico&#10;&#10;Descrição gerada automaticamente">
            <a:extLst>
              <a:ext uri="{FF2B5EF4-FFF2-40B4-BE49-F238E27FC236}">
                <a16:creationId xmlns:a16="http://schemas.microsoft.com/office/drawing/2014/main" id="{C3FE8AEB-4823-126C-56D5-720F1B37C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932" y="2747279"/>
            <a:ext cx="1630821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72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ESTATÍSTICAS DESCRITIVAS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Resumem e descrevem o conjunto de dados.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Algumas estatísticas com as quais iremos trabalhar:</a:t>
            </a:r>
          </a:p>
          <a:p>
            <a:pPr marL="1028700" lvl="2" indent="-342900"/>
            <a:r>
              <a:rPr lang="pt-BR" dirty="0"/>
              <a:t>Média</a:t>
            </a:r>
          </a:p>
          <a:p>
            <a:pPr marL="1028700" lvl="2" indent="-342900"/>
            <a:r>
              <a:rPr lang="pt-BR" dirty="0"/>
              <a:t>Moda</a:t>
            </a:r>
          </a:p>
          <a:p>
            <a:pPr marL="1028700" lvl="2" indent="-342900"/>
            <a:r>
              <a:rPr lang="pt-BR" dirty="0"/>
              <a:t>Mediana</a:t>
            </a:r>
          </a:p>
          <a:p>
            <a:pPr marL="1028700" lvl="2" indent="-342900"/>
            <a:r>
              <a:rPr lang="pt-BR" dirty="0"/>
              <a:t>Quartis e Percentis</a:t>
            </a:r>
          </a:p>
          <a:p>
            <a:pPr marL="1028700" lvl="2" indent="-342900"/>
            <a:r>
              <a:rPr lang="pt-BR" dirty="0"/>
              <a:t>Variância</a:t>
            </a:r>
          </a:p>
          <a:p>
            <a:pPr marL="1028700" lvl="2" indent="-342900"/>
            <a:r>
              <a:rPr lang="pt-BR" dirty="0"/>
              <a:t>Desvio-Padrão</a:t>
            </a:r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6931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MÉDIA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658EE59-4D4C-0681-0DD3-18233C3F94A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93064" y="1996751"/>
                <a:ext cx="9874463" cy="3931214"/>
              </a:xfrm>
            </p:spPr>
            <p:txBody>
              <a:bodyPr rtlCol="0">
                <a:normAutofit/>
              </a:bodyPr>
              <a:lstStyle>
                <a:defPPr>
                  <a:defRPr lang="pt-BR"/>
                </a:defPPr>
              </a:lstStyle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pt-BR" dirty="0"/>
                  <a:t>Medida mais utilizada para a representação de uma distribuição de dados.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FF0000"/>
                    </a:solidFill>
                  </a:rPr>
                  <a:t>IMPORTANTE:</a:t>
                </a:r>
                <a:r>
                  <a:rPr lang="pt-BR" b="1" dirty="0"/>
                  <a:t> </a:t>
                </a:r>
                <a:r>
                  <a:rPr lang="pt-BR" dirty="0"/>
                  <a:t>a média é sensível a valores extremos da distribuição.</a:t>
                </a:r>
              </a:p>
              <a:p>
                <a:pPr rtl="0"/>
                <a:endParaRPr lang="pt-BR" dirty="0"/>
              </a:p>
              <a:p>
                <a:pPr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3200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028700" lvl="2" indent="-342900"/>
                <a:endParaRPr lang="pt-BR" dirty="0"/>
              </a:p>
              <a:p>
                <a:pPr rtl="0"/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658EE59-4D4C-0681-0DD3-18233C3F9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93064" y="1996751"/>
                <a:ext cx="9874463" cy="3931214"/>
              </a:xfrm>
              <a:blipFill>
                <a:blip r:embed="rId3"/>
                <a:stretch>
                  <a:fillRect l="-556" t="-7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9542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MODA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Valor mais frequente em uma distribuição de dados.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Para haver ‘moda’, é necessário que a frequência seja maior do que 1.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Qual a moda das seguintes listas?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914400" lvl="4" indent="0">
              <a:buNone/>
            </a:pPr>
            <a:r>
              <a:rPr lang="pt-BR" dirty="0"/>
              <a:t>[1, 1, 2, 3, 4]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Moda: 1</a:t>
            </a:r>
            <a:endParaRPr lang="pt-BR" b="1" dirty="0">
              <a:solidFill>
                <a:srgbClr val="FF0000"/>
              </a:solidFill>
            </a:endParaRPr>
          </a:p>
          <a:p>
            <a:pPr marL="914400" lvl="4" indent="0">
              <a:buNone/>
            </a:pPr>
            <a:r>
              <a:rPr lang="pt-BR" dirty="0"/>
              <a:t>[4, 5, 6, 7, 8]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Conjunto Amodal</a:t>
            </a:r>
            <a:endParaRPr lang="pt-BR" b="1" dirty="0">
              <a:solidFill>
                <a:srgbClr val="FF0000"/>
              </a:solidFill>
            </a:endParaRPr>
          </a:p>
          <a:p>
            <a:pPr marL="914400" lvl="4" indent="0">
              <a:buNone/>
            </a:pPr>
            <a:r>
              <a:rPr lang="pt-BR" dirty="0"/>
              <a:t>[1, 1, 2, 2, 4]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Conjunto Bimodal (1, 2)</a:t>
            </a:r>
            <a:endParaRPr lang="pt-BR" b="1" dirty="0">
              <a:solidFill>
                <a:srgbClr val="FF0000"/>
              </a:solidFill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7679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MEDIANA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 fontScale="92500" lnSpcReduction="10000"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 </a:t>
            </a:r>
            <a:r>
              <a:rPr lang="pt-BR" u="sng" dirty="0"/>
              <a:t>mediana</a:t>
            </a:r>
            <a:r>
              <a:rPr lang="pt-BR" dirty="0"/>
              <a:t> é o elemento que ocupa a posição central de uma lista ordenada.</a:t>
            </a:r>
          </a:p>
          <a:p>
            <a:pPr rtl="0"/>
            <a:endParaRPr lang="pt-BR" dirty="0"/>
          </a:p>
          <a:p>
            <a:pPr marL="914400" lvl="4" indent="0">
              <a:buNone/>
            </a:pPr>
            <a:r>
              <a:rPr lang="pt-BR" dirty="0"/>
              <a:t>[1, 5, 2, 3, 9]</a:t>
            </a:r>
          </a:p>
          <a:p>
            <a:pPr marL="914400" lvl="4" indent="0">
              <a:buNone/>
            </a:pPr>
            <a:r>
              <a:rPr lang="pt-BR" dirty="0"/>
              <a:t>[1, 2, 3, 5, 9]</a:t>
            </a:r>
          </a:p>
          <a:p>
            <a:pPr marL="914400" lvl="4" indent="0">
              <a:buNone/>
            </a:pPr>
            <a:r>
              <a:rPr lang="pt-BR" dirty="0"/>
              <a:t>[1, 2, </a:t>
            </a:r>
            <a:r>
              <a:rPr lang="pt-BR" b="1" dirty="0">
                <a:solidFill>
                  <a:srgbClr val="FF0000"/>
                </a:solidFill>
              </a:rPr>
              <a:t>3</a:t>
            </a:r>
            <a:r>
              <a:rPr lang="pt-BR" dirty="0"/>
              <a:t>, 5, 9]</a:t>
            </a:r>
          </a:p>
          <a:p>
            <a:pPr marL="914400" lvl="4" indent="0">
              <a:buNone/>
            </a:pPr>
            <a:r>
              <a:rPr lang="pt-BR" dirty="0"/>
              <a:t>[1, 2, </a:t>
            </a:r>
            <a:r>
              <a:rPr lang="pt-BR" b="1" dirty="0">
                <a:solidFill>
                  <a:srgbClr val="FF0000"/>
                </a:solidFill>
              </a:rPr>
              <a:t>3</a:t>
            </a:r>
            <a:r>
              <a:rPr lang="pt-BR" dirty="0"/>
              <a:t>, </a:t>
            </a:r>
            <a:r>
              <a:rPr lang="pt-BR" b="1" dirty="0">
                <a:solidFill>
                  <a:srgbClr val="FF0000"/>
                </a:solidFill>
              </a:rPr>
              <a:t>4</a:t>
            </a:r>
            <a:r>
              <a:rPr lang="pt-BR" dirty="0"/>
              <a:t>, 5, 6]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Mediana: (3+4)/2 = 3.5</a:t>
            </a:r>
            <a:endParaRPr lang="pt-BR" b="1" dirty="0">
              <a:solidFill>
                <a:srgbClr val="FF0000"/>
              </a:solidFill>
            </a:endParaRPr>
          </a:p>
          <a:p>
            <a:pPr marL="914400" lvl="4" indent="0">
              <a:buNone/>
            </a:pPr>
            <a:endParaRPr lang="pt-BR" dirty="0"/>
          </a:p>
          <a:p>
            <a:pPr lvl="3"/>
            <a:r>
              <a:rPr lang="pt-BR" dirty="0"/>
              <a:t>Note que 50% dos dados são menores do que a mediana.</a:t>
            </a:r>
          </a:p>
          <a:p>
            <a:pPr lvl="3"/>
            <a:r>
              <a:rPr lang="pt-BR" b="1" dirty="0">
                <a:solidFill>
                  <a:srgbClr val="FF0000"/>
                </a:solidFill>
              </a:rPr>
              <a:t>IMPORTANTE:</a:t>
            </a:r>
            <a:r>
              <a:rPr lang="pt-BR" dirty="0"/>
              <a:t> a mediana não é tão afetada por valores extremos da distribuição.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7883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QUARTIS E PERCENTIS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Os </a:t>
            </a:r>
            <a:r>
              <a:rPr lang="pt-BR" u="sng" dirty="0"/>
              <a:t>quartis</a:t>
            </a:r>
            <a:r>
              <a:rPr lang="pt-BR" dirty="0"/>
              <a:t> dividem os dados em quatro partes iguais, quais sejam, Q1, Q2, Q3 e Q4.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 </a:t>
            </a:r>
            <a:r>
              <a:rPr lang="pt-BR" u="sng" dirty="0"/>
              <a:t>mediana</a:t>
            </a:r>
            <a:r>
              <a:rPr lang="pt-BR" dirty="0"/>
              <a:t> é Q2, pois divide os dados pela metade (em dois conjuntos). No Q1,encontram-se 25% dos dados do conjunto de dados.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 mesma ideia se aplica aos </a:t>
            </a:r>
            <a:r>
              <a:rPr lang="pt-BR" u="sng" dirty="0"/>
              <a:t>percentis</a:t>
            </a:r>
            <a:r>
              <a:rPr lang="pt-BR" dirty="0"/>
              <a:t>. Os </a:t>
            </a:r>
            <a:r>
              <a:rPr lang="pt-BR" u="sng" dirty="0"/>
              <a:t>percentis</a:t>
            </a:r>
            <a:r>
              <a:rPr lang="pt-BR" dirty="0"/>
              <a:t> dividem os dados em percentuais específicos, quais sejam, P1, P2, ..., P99.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25</a:t>
            </a:fld>
            <a:endParaRPr lang="pt-BR" dirty="0"/>
          </a:p>
        </p:txBody>
      </p:sp>
      <p:pic>
        <p:nvPicPr>
          <p:cNvPr id="8" name="Imagem 7" descr="Gráfico de caixa estreita&#10;&#10;Descrição gerada automaticamente com confiança média">
            <a:extLst>
              <a:ext uri="{FF2B5EF4-FFF2-40B4-BE49-F238E27FC236}">
                <a16:creationId xmlns:a16="http://schemas.microsoft.com/office/drawing/2014/main" id="{DDEECDFD-BD36-38BB-AC34-DE24042AA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474" y="2983191"/>
            <a:ext cx="4519052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08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VARIÂNCIA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658EE59-4D4C-0681-0DD3-18233C3F94A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93064" y="1996751"/>
                <a:ext cx="9874463" cy="3931214"/>
              </a:xfrm>
            </p:spPr>
            <p:txBody>
              <a:bodyPr rtlCol="0">
                <a:normAutofit/>
              </a:bodyPr>
              <a:lstStyle>
                <a:defPPr>
                  <a:defRPr lang="pt-BR"/>
                </a:defPPr>
              </a:lstStyle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pt-BR" dirty="0"/>
                  <a:t>É a distância de cada ponto de dado em relação à média do conjunto de dados a que pertence.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pt-BR" dirty="0"/>
                  <a:t>A variância é dada por:</a:t>
                </a:r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 −1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dirty="0"/>
                  <a:t> representa a média e n representa o número de pontos de dados.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pt-BR" b="1" dirty="0">
                    <a:solidFill>
                      <a:srgbClr val="FF0000"/>
                    </a:solidFill>
                  </a:rPr>
                  <a:t>IMPORTANTE:</a:t>
                </a:r>
                <a:r>
                  <a:rPr lang="pt-BR" dirty="0"/>
                  <a:t> a variância é afetada pela unidade de medida dos dados.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rtl="0"/>
                <a:endParaRPr lang="pt-BR" sz="3200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028700" lvl="2" indent="-342900"/>
                <a:endParaRPr lang="pt-BR" dirty="0"/>
              </a:p>
              <a:p>
                <a:pPr rtl="0"/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658EE59-4D4C-0681-0DD3-18233C3F9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93064" y="1996751"/>
                <a:ext cx="9874463" cy="3931214"/>
              </a:xfrm>
              <a:blipFill>
                <a:blip r:embed="rId3"/>
                <a:stretch>
                  <a:fillRect l="-556" t="-776" r="-11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9703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DESVIO PADRÃO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658EE59-4D4C-0681-0DD3-18233C3F94A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93064" y="1996751"/>
                <a:ext cx="9874463" cy="3931214"/>
              </a:xfrm>
            </p:spPr>
            <p:txBody>
              <a:bodyPr rtlCol="0">
                <a:normAutofit/>
              </a:bodyPr>
              <a:lstStyle>
                <a:defPPr>
                  <a:defRPr lang="pt-BR"/>
                </a:defPPr>
              </a:lstStyle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pt-BR" dirty="0"/>
                  <a:t>O desvio padrão é representado pela raiz quadrada da variância.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r>
                  <a:rPr lang="pt-BR" dirty="0"/>
                  <a:t>O desvio padrão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dirty="0"/>
                  <a:t> é dado por:</a:t>
                </a:r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pt-B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ad>
                        <m:radPr>
                          <m:degHide m:val="on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pt-BR" sz="3200" dirty="0"/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3200" dirty="0"/>
                  <a:t> </a:t>
                </a:r>
                <a14:m>
                  <m:oMath xmlns:m="http://schemas.openxmlformats.org/officeDocument/2006/math">
                    <m:r>
                      <a:rPr lang="pt-BR" sz="3200" i="1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pt-BR" sz="3200" dirty="0"/>
                  <a:t> </a:t>
                </a:r>
                <a14:m>
                  <m:oMath xmlns:m="http://schemas.openxmlformats.org/officeDocument/2006/math">
                    <m:r>
                      <a:rPr lang="pt-B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pt-BR" sz="3200" dirty="0"/>
              </a:p>
              <a:p>
                <a:pPr rtl="0"/>
                <a:endParaRPr lang="pt-BR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rtl="0"/>
                <a:endParaRPr lang="pt-BR" sz="3200" dirty="0"/>
              </a:p>
              <a:p>
                <a:pPr marL="342900" indent="-342900" rtl="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028700" lvl="2" indent="-342900"/>
                <a:endParaRPr lang="pt-BR" dirty="0"/>
              </a:p>
              <a:p>
                <a:pPr rtl="0"/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7658EE59-4D4C-0681-0DD3-18233C3F9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93064" y="1996751"/>
                <a:ext cx="9874463" cy="3931214"/>
              </a:xfrm>
              <a:blipFill>
                <a:blip r:embed="rId3"/>
                <a:stretch>
                  <a:fillRect l="-556" t="-7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2739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631232"/>
            <a:ext cx="8297380" cy="1458899"/>
          </a:xfrm>
        </p:spPr>
        <p:txBody>
          <a:bodyPr>
            <a:normAutofit/>
          </a:bodyPr>
          <a:lstStyle/>
          <a:p>
            <a:pPr algn="ctr"/>
            <a:r>
              <a:rPr lang="pt-BR" sz="3200" dirty="0"/>
              <a:t>ANALISANDO DISTRIBUIÇÕES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4941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ASSIMETRIA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As medidas de </a:t>
            </a:r>
            <a:r>
              <a:rPr lang="pt-BR" u="sng" dirty="0"/>
              <a:t>tendência central </a:t>
            </a:r>
            <a:r>
              <a:rPr lang="pt-BR" dirty="0"/>
              <a:t>e </a:t>
            </a:r>
            <a:r>
              <a:rPr lang="pt-BR" u="sng" dirty="0"/>
              <a:t>dispersão</a:t>
            </a:r>
            <a:r>
              <a:rPr lang="pt-BR" dirty="0"/>
              <a:t> não são suficientes para se analisar a distribuição dos dados.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É necessário estudar o comportamento geral da distribuição dos dados por meio da </a:t>
            </a:r>
            <a:r>
              <a:rPr lang="pt-BR" u="sng" dirty="0"/>
              <a:t>distribuição de frequência </a:t>
            </a:r>
            <a:r>
              <a:rPr lang="pt-BR" dirty="0"/>
              <a:t>e dos </a:t>
            </a:r>
            <a:r>
              <a:rPr lang="pt-BR" u="sng" dirty="0"/>
              <a:t>histogramas</a:t>
            </a:r>
            <a:r>
              <a:rPr lang="pt-BR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É extremamente importante que a distribuição seja simétrica, ou seja, em formato de sino.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As distribuições assimétricas apresentam uma cauda (à esquerda ou à direita) em uma de suas extremidades.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985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ASSIMETRIA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Quando a </a:t>
            </a:r>
            <a:r>
              <a:rPr lang="pt-BR" u="sng" dirty="0"/>
              <a:t>média</a:t>
            </a:r>
            <a:r>
              <a:rPr lang="pt-BR" dirty="0"/>
              <a:t>, a </a:t>
            </a:r>
            <a:r>
              <a:rPr lang="pt-BR" u="sng" dirty="0"/>
              <a:t>mediana</a:t>
            </a:r>
            <a:r>
              <a:rPr lang="pt-BR" dirty="0"/>
              <a:t> e a </a:t>
            </a:r>
            <a:r>
              <a:rPr lang="pt-BR" u="sng" dirty="0"/>
              <a:t>moda</a:t>
            </a:r>
            <a:r>
              <a:rPr lang="pt-BR" dirty="0"/>
              <a:t> coincidem, a distribuição é dita simétrica e o </a:t>
            </a:r>
            <a:r>
              <a:rPr lang="pt-BR" u="sng" dirty="0"/>
              <a:t>coeficiente de assimetria </a:t>
            </a:r>
            <a:r>
              <a:rPr lang="pt-BR" dirty="0"/>
              <a:t>é igual a zero.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Quando a média é maior do que a mediana e a moda, tem-se uma </a:t>
            </a:r>
            <a:r>
              <a:rPr lang="pt-BR" b="1" dirty="0">
                <a:solidFill>
                  <a:srgbClr val="FF0000"/>
                </a:solidFill>
              </a:rPr>
              <a:t>assimetria positiva ou à direita</a:t>
            </a:r>
            <a:r>
              <a:rPr lang="pt-B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Quando a média é menor do que a mediana e a moda, tem-se uma </a:t>
            </a:r>
            <a:r>
              <a:rPr lang="pt-BR" b="1" dirty="0">
                <a:solidFill>
                  <a:srgbClr val="FF0000"/>
                </a:solidFill>
              </a:rPr>
              <a:t>assimetria negativa ou à esquerda</a:t>
            </a:r>
            <a:r>
              <a:rPr lang="pt-B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30</a:t>
            </a:fld>
            <a:endParaRPr lang="pt-BR" dirty="0"/>
          </a:p>
        </p:txBody>
      </p:sp>
      <p:pic>
        <p:nvPicPr>
          <p:cNvPr id="8" name="Imagem 7" descr="Gráfico, Gráfico de linhas">
            <a:extLst>
              <a:ext uri="{FF2B5EF4-FFF2-40B4-BE49-F238E27FC236}">
                <a16:creationId xmlns:a16="http://schemas.microsoft.com/office/drawing/2014/main" id="{5D32A6C0-0FC8-9092-2BB5-BA7295C52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652" y="4326920"/>
            <a:ext cx="6523285" cy="1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22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CURTOSE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u="sng" dirty="0"/>
              <a:t>Curtose</a:t>
            </a:r>
            <a:r>
              <a:rPr lang="pt-BR" dirty="0"/>
              <a:t> é o grau de achatamento de uma distribuição em relação a uma distribuição gaussiana padrão.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05895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BOX PLOT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5330454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u="sng" dirty="0" err="1"/>
              <a:t>boxplot</a:t>
            </a:r>
            <a:r>
              <a:rPr lang="pt-BR" u="sng" dirty="0"/>
              <a:t> </a:t>
            </a:r>
            <a:r>
              <a:rPr lang="pt-BR" dirty="0"/>
              <a:t>é uma ferramenta gráfica que fornece uma representação visual da distribuição de um conjunto de dados, destacando a </a:t>
            </a:r>
            <a:r>
              <a:rPr lang="pt-BR" u="sng" dirty="0"/>
              <a:t>mediana</a:t>
            </a:r>
            <a:r>
              <a:rPr lang="pt-BR" dirty="0"/>
              <a:t>, os </a:t>
            </a:r>
            <a:r>
              <a:rPr lang="pt-BR" u="sng" dirty="0"/>
              <a:t>quartis</a:t>
            </a:r>
            <a:r>
              <a:rPr lang="pt-BR" dirty="0"/>
              <a:t> e os </a:t>
            </a:r>
            <a:r>
              <a:rPr lang="pt-BR" u="sng" dirty="0"/>
              <a:t>valores extremos</a:t>
            </a:r>
            <a:r>
              <a:rPr lang="pt-BR" dirty="0"/>
              <a:t> (</a:t>
            </a:r>
            <a:r>
              <a:rPr lang="pt-BR" i="1" dirty="0"/>
              <a:t>outliers</a:t>
            </a:r>
            <a:r>
              <a:rPr lang="pt-BR" dirty="0"/>
              <a:t>).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32</a:t>
            </a:fld>
            <a:endParaRPr lang="pt-BR" dirty="0"/>
          </a:p>
        </p:txBody>
      </p:sp>
      <p:pic>
        <p:nvPicPr>
          <p:cNvPr id="7" name="Imagem 6" descr="Diagrama, Esquemático&#10;&#10;Descrição gerada automaticamente">
            <a:extLst>
              <a:ext uri="{FF2B5EF4-FFF2-40B4-BE49-F238E27FC236}">
                <a16:creationId xmlns:a16="http://schemas.microsoft.com/office/drawing/2014/main" id="{2B8B88EA-D89F-D17F-827A-1D1B64FB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705" y="984155"/>
            <a:ext cx="3496008" cy="5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91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BOX PLOT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1"/>
            <a:ext cx="9874463" cy="393121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Os </a:t>
            </a:r>
            <a:r>
              <a:rPr lang="pt-BR" u="sng" dirty="0" err="1"/>
              <a:t>boxplots</a:t>
            </a:r>
            <a:r>
              <a:rPr lang="pt-BR" dirty="0"/>
              <a:t> são úteis para identificar a dispersão dos dados, a presença de </a:t>
            </a:r>
            <a:r>
              <a:rPr lang="pt-BR" i="1" dirty="0"/>
              <a:t>outliers</a:t>
            </a:r>
            <a:r>
              <a:rPr lang="pt-BR" dirty="0"/>
              <a:t> e a simetria da distribuição.</a:t>
            </a:r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33</a:t>
            </a:fld>
            <a:endParaRPr lang="pt-BR" dirty="0"/>
          </a:p>
        </p:txBody>
      </p:sp>
      <p:pic>
        <p:nvPicPr>
          <p:cNvPr id="6" name="Imagem 5" descr="Tela preta com letras brancas">
            <a:extLst>
              <a:ext uri="{FF2B5EF4-FFF2-40B4-BE49-F238E27FC236}">
                <a16:creationId xmlns:a16="http://schemas.microsoft.com/office/drawing/2014/main" id="{C1FB8972-4E2B-DC5A-8A3B-BE249C371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314" y="3429000"/>
            <a:ext cx="6550091" cy="203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01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BOX PLOT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0"/>
            <a:ext cx="9874463" cy="447869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boxplot</a:t>
            </a:r>
            <a:r>
              <a:rPr lang="pt-BR" dirty="0"/>
              <a:t> é composto pelos seguintes elementos: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485900" lvl="4" indent="-342900"/>
            <a:r>
              <a:rPr lang="pt-BR" dirty="0"/>
              <a:t>Caixa (box): A caixa representa o intervalo interquartil (IQR), que abrange a diferença entre o primeiro quartil (Q1) e o terceiro quartil (Q3). A linha dentro da caixa representa a mediana.</a:t>
            </a:r>
          </a:p>
          <a:p>
            <a:pPr marL="1485900" lvl="4" indent="-342900"/>
            <a:r>
              <a:rPr lang="pt-BR" dirty="0" err="1"/>
              <a:t>Whiskers</a:t>
            </a:r>
            <a:r>
              <a:rPr lang="pt-BR" dirty="0"/>
              <a:t> (hastes): As hastes estendem-se a partir da caixa até os valores extremos dentro de um intervalo específico. </a:t>
            </a:r>
          </a:p>
          <a:p>
            <a:pPr marL="1485900" lvl="4" indent="-342900"/>
            <a:r>
              <a:rPr lang="pt-BR" dirty="0"/>
              <a:t>Outliers (valores atípicos): São pontos fora dos limites dos </a:t>
            </a:r>
            <a:r>
              <a:rPr lang="pt-BR" dirty="0" err="1"/>
              <a:t>whiskers</a:t>
            </a:r>
            <a:r>
              <a:rPr lang="pt-BR" dirty="0"/>
              <a:t> e são considerados valores que se desviam significativamente do padrão dos dados.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4146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BOX PLOT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0"/>
            <a:ext cx="9874463" cy="4478695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u="sng" dirty="0"/>
              <a:t>Exemplo numérico</a:t>
            </a:r>
            <a:r>
              <a:rPr lang="pt-BR" dirty="0"/>
              <a:t>:</a:t>
            </a:r>
          </a:p>
          <a:p>
            <a:pPr rtl="0"/>
            <a:endParaRPr lang="pt-BR" dirty="0"/>
          </a:p>
          <a:p>
            <a:pPr lvl="1" indent="0">
              <a:buNone/>
            </a:pPr>
            <a:r>
              <a:rPr lang="pt-BR" b="1" dirty="0">
                <a:solidFill>
                  <a:srgbClr val="FF0000"/>
                </a:solidFill>
              </a:rPr>
              <a:t>Conjunto de dados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pt-BR" dirty="0"/>
              <a:t>[100, 120, 110, 150, 110, 140, 130, 170, 120, 220, 140, 110]</a:t>
            </a:r>
          </a:p>
          <a:p>
            <a:pPr lvl="1" indent="0">
              <a:buNone/>
            </a:pP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Ordem crescente  </a:t>
            </a:r>
            <a:r>
              <a:rPr lang="pt-BR" dirty="0"/>
              <a:t>[100, 110, 110, 110, 120, 120, 130, 140, 140, 150, 170, 220]</a:t>
            </a:r>
            <a:endParaRPr lang="pt-BR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indent="0">
              <a:buNone/>
            </a:pP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Mediana (Q2)  </a:t>
            </a:r>
            <a:r>
              <a:rPr lang="pt-BR" dirty="0"/>
              <a:t>(120+130)/2=125</a:t>
            </a:r>
            <a:endParaRPr lang="pt-BR" dirty="0">
              <a:sym typeface="Wingdings" panose="05000000000000000000" pitchFamily="2" charset="2"/>
            </a:endParaRPr>
          </a:p>
          <a:p>
            <a:pPr lvl="1" indent="0">
              <a:buNone/>
            </a:pP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Q1  </a:t>
            </a:r>
            <a:r>
              <a:rPr lang="pt-BR" dirty="0"/>
              <a:t>(110+110)/2=110</a:t>
            </a:r>
            <a:r>
              <a:rPr lang="pt-BR" dirty="0">
                <a:sym typeface="Wingdings" panose="05000000000000000000" pitchFamily="2" charset="2"/>
              </a:rPr>
              <a:t> </a:t>
            </a:r>
          </a:p>
          <a:p>
            <a:pPr lvl="1" indent="0">
              <a:buNone/>
            </a:pP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Q3  </a:t>
            </a:r>
            <a:r>
              <a:rPr lang="pt-BR" dirty="0">
                <a:sym typeface="Wingdings" panose="05000000000000000000" pitchFamily="2" charset="2"/>
              </a:rPr>
              <a:t>(140+150)/2=145</a:t>
            </a:r>
          </a:p>
          <a:p>
            <a:pPr lvl="1" indent="0">
              <a:buNone/>
            </a:pPr>
            <a:r>
              <a:rPr lang="pt-BR" b="1" dirty="0">
                <a:solidFill>
                  <a:srgbClr val="FF0000"/>
                </a:solidFill>
              </a:rPr>
              <a:t>IQR (Intervalo Interquartil)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pt-BR" dirty="0">
                <a:sym typeface="Wingdings" panose="05000000000000000000" pitchFamily="2" charset="2"/>
              </a:rPr>
              <a:t>Q3-Q1=145-110=35</a:t>
            </a:r>
          </a:p>
          <a:p>
            <a:pPr lvl="1" indent="0">
              <a:buNone/>
            </a:pP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Limite Inferior  </a:t>
            </a:r>
            <a:r>
              <a:rPr lang="pt-BR" dirty="0">
                <a:sym typeface="Wingdings" panose="05000000000000000000" pitchFamily="2" charset="2"/>
              </a:rPr>
              <a:t>Q1-1.5*IQR=110-1.5*35=57.5</a:t>
            </a:r>
          </a:p>
          <a:p>
            <a:pPr lvl="1" indent="0">
              <a:buNone/>
            </a:pP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Limite Superior  </a:t>
            </a:r>
            <a:r>
              <a:rPr lang="pt-BR" dirty="0">
                <a:sym typeface="Wingdings" panose="05000000000000000000" pitchFamily="2" charset="2"/>
              </a:rPr>
              <a:t>Q3+1.5*IQR=145+1.5*35=197.5</a:t>
            </a:r>
          </a:p>
          <a:p>
            <a:pPr lvl="1" indent="0">
              <a:buNone/>
            </a:pPr>
            <a:endParaRPr lang="pt-BR" dirty="0">
              <a:sym typeface="Wingdings" panose="05000000000000000000" pitchFamily="2" charset="2"/>
            </a:endParaRPr>
          </a:p>
          <a:p>
            <a:pPr lvl="1" indent="0">
              <a:buNone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35</a:t>
            </a:fld>
            <a:endParaRPr lang="pt-BR" dirty="0"/>
          </a:p>
        </p:txBody>
      </p:sp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87027D0E-6111-C41A-A3B4-E58836FFE8D8}"/>
              </a:ext>
            </a:extLst>
          </p:cNvPr>
          <p:cNvSpPr txBox="1">
            <a:spLocks/>
          </p:cNvSpPr>
          <p:nvPr/>
        </p:nvSpPr>
        <p:spPr>
          <a:xfrm>
            <a:off x="7806550" y="3722641"/>
            <a:ext cx="3474098" cy="28209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[57.5,197.5]</a:t>
            </a:r>
          </a:p>
          <a:p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Mínimo  </a:t>
            </a:r>
            <a:r>
              <a:rPr lang="pt-BR" dirty="0">
                <a:sym typeface="Wingdings" panose="05000000000000000000" pitchFamily="2" charset="2"/>
              </a:rPr>
              <a:t>100</a:t>
            </a:r>
          </a:p>
          <a:p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Máximo  </a:t>
            </a:r>
            <a:r>
              <a:rPr lang="pt-BR" dirty="0">
                <a:sym typeface="Wingdings" panose="05000000000000000000" pitchFamily="2" charset="2"/>
              </a:rPr>
              <a:t>170</a:t>
            </a:r>
          </a:p>
          <a:p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Outlier  </a:t>
            </a:r>
            <a:r>
              <a:rPr lang="pt-BR" dirty="0">
                <a:sym typeface="Wingdings" panose="05000000000000000000" pitchFamily="2" charset="2"/>
              </a:rPr>
              <a:t>220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endParaRPr lang="pt-BR" dirty="0">
              <a:sym typeface="Wingdings" panose="05000000000000000000" pitchFamily="2" charset="2"/>
            </a:endParaRPr>
          </a:p>
          <a:p>
            <a:endParaRPr lang="pt-BR" dirty="0">
              <a:sym typeface="Wingdings" panose="05000000000000000000" pitchFamily="2" charset="2"/>
            </a:endParaRPr>
          </a:p>
          <a:p>
            <a:endParaRPr lang="pt-BR" dirty="0"/>
          </a:p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endParaRPr lang="pt-BR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CF976419-1C6E-A08B-0AD1-B3E2DFFEA2AF}"/>
              </a:ext>
            </a:extLst>
          </p:cNvPr>
          <p:cNvCxnSpPr>
            <a:cxnSpLocks/>
          </p:cNvCxnSpPr>
          <p:nvPr/>
        </p:nvCxnSpPr>
        <p:spPr>
          <a:xfrm flipV="1">
            <a:off x="7193902" y="4907902"/>
            <a:ext cx="1623527" cy="10356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37CB1BD4-6533-AAED-119B-EE79DE102A4E}"/>
              </a:ext>
            </a:extLst>
          </p:cNvPr>
          <p:cNvCxnSpPr>
            <a:cxnSpLocks/>
          </p:cNvCxnSpPr>
          <p:nvPr/>
        </p:nvCxnSpPr>
        <p:spPr>
          <a:xfrm flipV="1">
            <a:off x="6680781" y="4907902"/>
            <a:ext cx="1502166" cy="6251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Imagem 14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678C1E6B-4B4F-4491-8515-2456C0B57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027" y="624312"/>
            <a:ext cx="5855823" cy="196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01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631232"/>
            <a:ext cx="8297380" cy="1458899"/>
          </a:xfrm>
        </p:spPr>
        <p:txBody>
          <a:bodyPr>
            <a:normAutofit/>
          </a:bodyPr>
          <a:lstStyle/>
          <a:p>
            <a:pPr algn="ctr"/>
            <a:r>
              <a:rPr lang="pt-BR" sz="3200" dirty="0"/>
              <a:t>Visualização dos dados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36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2675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Tipos de dados e visualização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0"/>
            <a:ext cx="9874463" cy="447869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 análise estatística envolve o entendimento de como as variáveis em um conjunto de dados estão relacionadas entre si.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 visualização é um componente-chave da análise estatística.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Quando os dados são visualizados de maneira apropriada, o sistema visual humano reconhece tendências e padrões que endossam esse relacionamento.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Antes de qualquer visualização, é necessário que se saiba o tipo de dado que se deseja plotar.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6274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51514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ANÁLISE </a:t>
            </a:r>
            <a:r>
              <a:rPr lang="pt-BR" dirty="0" err="1"/>
              <a:t>univariada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0"/>
            <a:ext cx="9874463" cy="447869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Há diversos tipos de visualização </a:t>
            </a:r>
            <a:r>
              <a:rPr lang="pt-BR" dirty="0" err="1"/>
              <a:t>univariada</a:t>
            </a:r>
            <a:r>
              <a:rPr lang="pt-BR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Na maioria das vezes, usam-se </a:t>
            </a:r>
            <a:r>
              <a:rPr lang="pt-BR" u="sng" dirty="0"/>
              <a:t>histogramas</a:t>
            </a:r>
            <a:r>
              <a:rPr lang="pt-BR" dirty="0"/>
              <a:t> e </a:t>
            </a:r>
            <a:r>
              <a:rPr lang="pt-BR" u="sng" dirty="0"/>
              <a:t>gráficos de barras</a:t>
            </a:r>
            <a:r>
              <a:rPr lang="pt-BR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Alguns exemplos de gráficos utilizados na visualização </a:t>
            </a:r>
            <a:r>
              <a:rPr lang="pt-BR" dirty="0" err="1"/>
              <a:t>univariada</a:t>
            </a:r>
            <a:r>
              <a:rPr lang="pt-BR" dirty="0"/>
              <a:t>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r>
              <a:rPr lang="pt-BR" dirty="0"/>
              <a:t>Histogramas </a:t>
            </a:r>
            <a:r>
              <a:rPr lang="pt-BR" dirty="0">
                <a:sym typeface="Wingdings" panose="05000000000000000000" pitchFamily="2" charset="2"/>
              </a:rPr>
              <a:t> variáveis numéricas.</a:t>
            </a:r>
          </a:p>
          <a:p>
            <a:pPr marL="1028700" lvl="2" indent="-342900"/>
            <a:r>
              <a:rPr lang="pt-BR" dirty="0">
                <a:sym typeface="Wingdings" panose="05000000000000000000" pitchFamily="2" charset="2"/>
              </a:rPr>
              <a:t>Gráfico de Barras  variáveis categóricas.</a:t>
            </a:r>
          </a:p>
          <a:p>
            <a:pPr marL="1028700" lvl="2" indent="-342900"/>
            <a:r>
              <a:rPr lang="pt-BR" dirty="0">
                <a:sym typeface="Wingdings" panose="05000000000000000000" pitchFamily="2" charset="2"/>
              </a:rPr>
              <a:t>Box-</a:t>
            </a:r>
            <a:r>
              <a:rPr lang="pt-BR" dirty="0" err="1">
                <a:sym typeface="Wingdings" panose="05000000000000000000" pitchFamily="2" charset="2"/>
              </a:rPr>
              <a:t>Plot</a:t>
            </a:r>
            <a:r>
              <a:rPr lang="pt-BR" dirty="0">
                <a:sym typeface="Wingdings" panose="05000000000000000000" pitchFamily="2" charset="2"/>
              </a:rPr>
              <a:t>  variáveis numéricas.</a:t>
            </a:r>
          </a:p>
          <a:p>
            <a:pPr marL="1028700" lvl="2" indent="-34290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38</a:t>
            </a:fld>
            <a:endParaRPr lang="pt-BR" dirty="0"/>
          </a:p>
        </p:txBody>
      </p:sp>
      <p:pic>
        <p:nvPicPr>
          <p:cNvPr id="6" name="Imagem 5" descr="Gráfico, Histograma&#10;&#10;Descrição gerada automaticamente">
            <a:extLst>
              <a:ext uri="{FF2B5EF4-FFF2-40B4-BE49-F238E27FC236}">
                <a16:creationId xmlns:a16="http://schemas.microsoft.com/office/drawing/2014/main" id="{1EA91ACB-90DA-D88E-2A95-1F7E5575E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002" y="1196524"/>
            <a:ext cx="2911956" cy="2465403"/>
          </a:xfrm>
          <a:prstGeom prst="rect">
            <a:avLst/>
          </a:prstGeom>
        </p:spPr>
      </p:pic>
      <p:pic>
        <p:nvPicPr>
          <p:cNvPr id="8" name="Imagem 7" descr="Gráfico, Gráfico de caixa estreita&#10;&#10;Descrição gerada automaticamente">
            <a:extLst>
              <a:ext uri="{FF2B5EF4-FFF2-40B4-BE49-F238E27FC236}">
                <a16:creationId xmlns:a16="http://schemas.microsoft.com/office/drawing/2014/main" id="{D2741984-C4A8-74BB-ECFE-2EC30E8E9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865" y="3900251"/>
            <a:ext cx="2781328" cy="2465404"/>
          </a:xfrm>
          <a:prstGeom prst="rect">
            <a:avLst/>
          </a:prstGeom>
        </p:spPr>
      </p:pic>
      <p:pic>
        <p:nvPicPr>
          <p:cNvPr id="10" name="Imagem 9" descr="Gráfico, Gráfico de barras&#10;&#10;Descrição gerada automaticamente">
            <a:extLst>
              <a:ext uri="{FF2B5EF4-FFF2-40B4-BE49-F238E27FC236}">
                <a16:creationId xmlns:a16="http://schemas.microsoft.com/office/drawing/2014/main" id="{371C3F6B-8721-3001-53EB-D96EC6AB4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4929" y="4478700"/>
            <a:ext cx="1898029" cy="162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334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51514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ANÁLISE </a:t>
            </a:r>
            <a:r>
              <a:rPr lang="pt-BR" dirty="0" err="1"/>
              <a:t>MULTIvariada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996750"/>
            <a:ext cx="9874463" cy="447869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Na análise multivariada, o objetivo é encontrar possíveis padrões visuais nos dados.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Alguns exemplos de gráficos utilizados na visualização multivariada: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r>
              <a:rPr lang="pt-BR" dirty="0"/>
              <a:t>Diagramas de Dispersão (</a:t>
            </a:r>
            <a:r>
              <a:rPr lang="pt-BR" i="1" dirty="0" err="1"/>
              <a:t>scatterplots</a:t>
            </a:r>
            <a:r>
              <a:rPr lang="pt-BR" i="1" dirty="0"/>
              <a:t>)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duas variáveis numéricas.</a:t>
            </a:r>
          </a:p>
          <a:p>
            <a:pPr marL="1028700" lvl="2" indent="-342900"/>
            <a:r>
              <a:rPr lang="pt-BR" dirty="0">
                <a:sym typeface="Wingdings" panose="05000000000000000000" pitchFamily="2" charset="2"/>
              </a:rPr>
              <a:t>Linhas (</a:t>
            </a:r>
            <a:r>
              <a:rPr lang="pt-BR" i="1" dirty="0" err="1">
                <a:sym typeface="Wingdings" panose="05000000000000000000" pitchFamily="2" charset="2"/>
              </a:rPr>
              <a:t>line</a:t>
            </a:r>
            <a:r>
              <a:rPr lang="pt-BR" i="1" dirty="0">
                <a:sym typeface="Wingdings" panose="05000000000000000000" pitchFamily="2" charset="2"/>
              </a:rPr>
              <a:t> </a:t>
            </a:r>
            <a:r>
              <a:rPr lang="pt-BR" i="1" dirty="0" err="1">
                <a:sym typeface="Wingdings" panose="05000000000000000000" pitchFamily="2" charset="2"/>
              </a:rPr>
              <a:t>plots</a:t>
            </a:r>
            <a:r>
              <a:rPr lang="pt-BR" dirty="0">
                <a:sym typeface="Wingdings" panose="05000000000000000000" pitchFamily="2" charset="2"/>
              </a:rPr>
              <a:t>)  variáveis numéricas (séries temporais).</a:t>
            </a:r>
          </a:p>
          <a:p>
            <a:pPr marL="1028700" lvl="2" indent="-342900"/>
            <a:r>
              <a:rPr lang="pt-BR" dirty="0">
                <a:sym typeface="Wingdings" panose="05000000000000000000" pitchFamily="2" charset="2"/>
              </a:rPr>
              <a:t>Box-</a:t>
            </a:r>
            <a:r>
              <a:rPr lang="pt-BR" dirty="0" err="1">
                <a:sym typeface="Wingdings" panose="05000000000000000000" pitchFamily="2" charset="2"/>
              </a:rPr>
              <a:t>Plot</a:t>
            </a:r>
            <a:r>
              <a:rPr lang="pt-BR" dirty="0">
                <a:sym typeface="Wingdings" panose="05000000000000000000" pitchFamily="2" charset="2"/>
              </a:rPr>
              <a:t> e </a:t>
            </a:r>
            <a:r>
              <a:rPr lang="pt-BR" dirty="0" err="1">
                <a:sym typeface="Wingdings" panose="05000000000000000000" pitchFamily="2" charset="2"/>
              </a:rPr>
              <a:t>Violin-Plot</a:t>
            </a:r>
            <a:r>
              <a:rPr lang="pt-BR" dirty="0">
                <a:sym typeface="Wingdings" panose="05000000000000000000" pitchFamily="2" charset="2"/>
              </a:rPr>
              <a:t>  uma variável numérica e uma variável categórica.</a:t>
            </a:r>
          </a:p>
          <a:p>
            <a:pPr marL="1028700" lvl="2" indent="-34290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4221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51514"/>
            <a:ext cx="104051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LINKS ÚTEIS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735494"/>
            <a:ext cx="9874463" cy="473995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571500" lvl="1" indent="-342900"/>
            <a:r>
              <a:rPr lang="pt-BR" b="1" dirty="0" err="1"/>
              <a:t>Seaborn</a:t>
            </a:r>
            <a:r>
              <a:rPr lang="pt-BR" dirty="0"/>
              <a:t> </a:t>
            </a:r>
          </a:p>
          <a:p>
            <a:pPr lvl="1" indent="0">
              <a:buNone/>
            </a:pPr>
            <a:r>
              <a:rPr lang="pt-BR" dirty="0">
                <a:hlinkClick r:id="rId3"/>
              </a:rPr>
              <a:t>https://seaborn.pydata.org/</a:t>
            </a:r>
            <a:endParaRPr lang="pt-BR" dirty="0"/>
          </a:p>
          <a:p>
            <a:pPr marL="571500" lvl="1" indent="-342900"/>
            <a:r>
              <a:rPr lang="pt-BR" b="1" dirty="0"/>
              <a:t>Python </a:t>
            </a:r>
            <a:r>
              <a:rPr lang="pt-BR" b="1" dirty="0" err="1"/>
              <a:t>Graph</a:t>
            </a:r>
            <a:r>
              <a:rPr lang="pt-BR" b="1" dirty="0"/>
              <a:t> </a:t>
            </a:r>
            <a:r>
              <a:rPr lang="pt-BR" b="1" dirty="0" err="1"/>
              <a:t>Gallery</a:t>
            </a:r>
            <a:endParaRPr lang="pt-BR" b="1" dirty="0"/>
          </a:p>
          <a:p>
            <a:pPr lvl="1" indent="0">
              <a:buNone/>
            </a:pPr>
            <a:r>
              <a:rPr lang="pt-BR" dirty="0">
                <a:hlinkClick r:id="rId4"/>
              </a:rPr>
              <a:t>https://python-graph-gallery.com/</a:t>
            </a:r>
            <a:endParaRPr lang="pt-BR" dirty="0"/>
          </a:p>
          <a:p>
            <a:pPr marL="571500" lvl="1" indent="-342900"/>
            <a:r>
              <a:rPr lang="pt-BR" b="1" dirty="0"/>
              <a:t>Data-</a:t>
            </a:r>
            <a:r>
              <a:rPr lang="pt-BR" b="1" dirty="0" err="1"/>
              <a:t>to</a:t>
            </a:r>
            <a:r>
              <a:rPr lang="pt-BR" b="1" dirty="0"/>
              <a:t>-</a:t>
            </a:r>
            <a:r>
              <a:rPr lang="pt-BR" b="1" dirty="0" err="1"/>
              <a:t>viz</a:t>
            </a:r>
            <a:endParaRPr lang="pt-BR" b="1" dirty="0"/>
          </a:p>
          <a:p>
            <a:pPr lvl="1" indent="0">
              <a:buNone/>
            </a:pPr>
            <a:r>
              <a:rPr lang="pt-BR" dirty="0">
                <a:hlinkClick r:id="rId5"/>
              </a:rPr>
              <a:t>https://www.data-to-viz.com/</a:t>
            </a:r>
            <a:endParaRPr lang="pt-BR" dirty="0"/>
          </a:p>
          <a:p>
            <a:pPr marL="571500" lvl="1" indent="-342900"/>
            <a:r>
              <a:rPr lang="pt-BR" b="1" dirty="0"/>
              <a:t>The Data </a:t>
            </a:r>
            <a:r>
              <a:rPr lang="pt-BR" b="1" dirty="0" err="1"/>
              <a:t>Visualization</a:t>
            </a:r>
            <a:r>
              <a:rPr lang="pt-BR" b="1" dirty="0"/>
              <a:t> </a:t>
            </a:r>
            <a:r>
              <a:rPr lang="pt-BR" b="1" dirty="0" err="1"/>
              <a:t>Catallog</a:t>
            </a:r>
            <a:endParaRPr lang="pt-BR" b="1" dirty="0"/>
          </a:p>
          <a:p>
            <a:pPr lvl="1" indent="0">
              <a:buNone/>
            </a:pPr>
            <a:r>
              <a:rPr lang="pt-BR" dirty="0">
                <a:hlinkClick r:id="rId6"/>
              </a:rPr>
              <a:t>https://datavizcatalogue.com/</a:t>
            </a:r>
            <a:endParaRPr lang="pt-BR" dirty="0"/>
          </a:p>
          <a:p>
            <a:pPr lvl="1" indent="0">
              <a:buNone/>
            </a:pPr>
            <a:endParaRPr lang="pt-BR" dirty="0"/>
          </a:p>
          <a:p>
            <a:pPr lvl="1" indent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pt-BR" dirty="0"/>
          </a:p>
          <a:p>
            <a:pPr marL="1028700" lvl="2" indent="-34290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3834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3"/>
            <a:ext cx="8297380" cy="1326514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OUTLIERS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41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2858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42</a:t>
            </a:fld>
            <a:endParaRPr lang="pt-BR" dirty="0"/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:a16="http://schemas.microsoft.com/office/drawing/2014/main" id="{55AD4870-F45C-0EEA-396D-BAE9E5161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1584799"/>
            <a:ext cx="6803715" cy="391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245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OUTLIERS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Um ponto de dado, numericamente, distante dos demais, na distribuição.</a:t>
            </a:r>
          </a:p>
          <a:p>
            <a:pPr rtl="0"/>
            <a:r>
              <a:rPr lang="pt-BR" dirty="0"/>
              <a:t>Valor extremo ou atípico que pode ser ‘muito’ pequeno ou ‘muito’ grande</a:t>
            </a:r>
            <a:r>
              <a:rPr lang="pt-BR" i="1" dirty="0"/>
              <a:t> </a:t>
            </a:r>
            <a:r>
              <a:rPr lang="pt-BR" dirty="0"/>
              <a:t>em relação aos demais.</a:t>
            </a:r>
          </a:p>
          <a:p>
            <a:r>
              <a:rPr lang="pt-BR" dirty="0"/>
              <a:t>Valores extremos afetam a média e a variabilidade dos dados, afetando a performance dos modelos de </a:t>
            </a:r>
            <a:r>
              <a:rPr lang="pt-BR" i="1" dirty="0"/>
              <a:t>Machine Learning</a:t>
            </a:r>
            <a:r>
              <a:rPr lang="pt-BR" dirty="0"/>
              <a:t> (ML).</a:t>
            </a:r>
          </a:p>
          <a:p>
            <a:pPr rtl="0"/>
            <a:r>
              <a:rPr lang="pt-BR" dirty="0"/>
              <a:t>Nem sempre excluir é o melhor a se fazer, irá depender do contexto da análise.</a:t>
            </a:r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6255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OUTLIERS-EXEMPLOS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44</a:t>
            </a:fld>
            <a:endParaRPr lang="pt-BR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64E3828-9811-C117-3250-8296FC6DCE3A}"/>
              </a:ext>
            </a:extLst>
          </p:cNvPr>
          <p:cNvGraphicFramePr>
            <a:graphicFrameLocks noGrp="1"/>
          </p:cNvGraphicFramePr>
          <p:nvPr/>
        </p:nvGraphicFramePr>
        <p:xfrm>
          <a:off x="1350865" y="2090581"/>
          <a:ext cx="8128000" cy="2966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737286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8340291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Tabela 1 – Salário em Dólares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419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Colaborador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Salário em Dólares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95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Colaborador_1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$800.000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81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Colaborador_2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$750.000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30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Colaborador_3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rgbClr val="FF0000"/>
                          </a:solidFill>
                        </a:rPr>
                        <a:t>$720.000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918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Colaborador_4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$101.517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618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Colaborador_5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$40.000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675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Colaborador_6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$15.000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177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094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OUTLIERS, O QUE FAZER?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403891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Se os </a:t>
            </a:r>
            <a:r>
              <a:rPr lang="pt-BR" i="1" dirty="0"/>
              <a:t>outliers </a:t>
            </a:r>
            <a:r>
              <a:rPr lang="pt-BR" dirty="0"/>
              <a:t>são parte legítima dos dados e fornecem informações importantes, deve-se mantê-los.</a:t>
            </a:r>
          </a:p>
          <a:p>
            <a:pPr rtl="0"/>
            <a:r>
              <a:rPr lang="pt-BR" dirty="0"/>
              <a:t>Certifique-se de comunicar a presença e a importância dos </a:t>
            </a:r>
            <a:r>
              <a:rPr lang="pt-BR" i="1" dirty="0"/>
              <a:t>outliers </a:t>
            </a:r>
            <a:r>
              <a:rPr lang="pt-BR" dirty="0"/>
              <a:t>ao interpretar os resultados.</a:t>
            </a:r>
          </a:p>
          <a:p>
            <a:pPr rtl="0"/>
            <a:r>
              <a:rPr lang="pt-BR" dirty="0"/>
              <a:t>Se os </a:t>
            </a:r>
            <a:r>
              <a:rPr lang="pt-BR" i="1" dirty="0"/>
              <a:t>outliers </a:t>
            </a:r>
            <a:r>
              <a:rPr lang="pt-BR" dirty="0"/>
              <a:t>são, claramente, erros de medição ou entrada de dados, pode ser apropriados removê-los.</a:t>
            </a:r>
          </a:p>
          <a:p>
            <a:pPr rtl="0"/>
            <a:r>
              <a:rPr lang="pt-BR" dirty="0"/>
              <a:t>Documente sempre a remoção dos </a:t>
            </a:r>
            <a:r>
              <a:rPr lang="pt-BR" i="1" dirty="0"/>
              <a:t>outliers</a:t>
            </a:r>
            <a:r>
              <a:rPr lang="pt-BR" dirty="0"/>
              <a:t>.</a:t>
            </a:r>
          </a:p>
          <a:p>
            <a:pPr rtl="0"/>
            <a:r>
              <a:rPr lang="pt-BR" dirty="0"/>
              <a:t>Às vezes, transformações, como a logarítmica </a:t>
            </a:r>
            <a:r>
              <a:rPr lang="pt-BR" i="1" dirty="0"/>
              <a:t>(box-</a:t>
            </a:r>
            <a:r>
              <a:rPr lang="pt-BR" i="1" dirty="0" err="1"/>
              <a:t>cox</a:t>
            </a:r>
            <a:r>
              <a:rPr lang="pt-BR" dirty="0"/>
              <a:t>)</a:t>
            </a:r>
            <a:r>
              <a:rPr lang="pt-BR" i="1" dirty="0"/>
              <a:t>,</a:t>
            </a:r>
            <a:r>
              <a:rPr lang="pt-BR" dirty="0"/>
              <a:t> podem ajudar a reduzir o impacto de </a:t>
            </a:r>
            <a:r>
              <a:rPr lang="pt-BR" i="1" dirty="0"/>
              <a:t>outliers</a:t>
            </a:r>
            <a:r>
              <a:rPr lang="pt-BR" dirty="0"/>
              <a:t>. </a:t>
            </a:r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54342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Outliers, como detectar?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b="1" dirty="0" err="1"/>
              <a:t>Boxplot</a:t>
            </a:r>
            <a:r>
              <a:rPr lang="pt-BR" b="1" dirty="0"/>
              <a:t>: </a:t>
            </a:r>
            <a:r>
              <a:rPr lang="pt-BR" dirty="0"/>
              <a:t>valores fora dos </a:t>
            </a:r>
            <a:r>
              <a:rPr lang="pt-BR" i="1" dirty="0" err="1"/>
              <a:t>whiskers</a:t>
            </a:r>
            <a:r>
              <a:rPr lang="pt-BR" dirty="0"/>
              <a:t> são considerados </a:t>
            </a:r>
            <a:r>
              <a:rPr lang="pt-BR" i="1" dirty="0"/>
              <a:t>outliers</a:t>
            </a:r>
            <a:r>
              <a:rPr lang="pt-BR" dirty="0"/>
              <a:t>.</a:t>
            </a:r>
          </a:p>
          <a:p>
            <a:pPr rtl="0"/>
            <a:r>
              <a:rPr lang="pt-BR" b="1" dirty="0"/>
              <a:t>Z-score: </a:t>
            </a:r>
            <a:r>
              <a:rPr lang="pt-BR" dirty="0"/>
              <a:t>valores com z-score maior do que 3 ou menor do que -3 são, frequentemente, considerados </a:t>
            </a:r>
            <a:r>
              <a:rPr lang="pt-BR" i="1" dirty="0"/>
              <a:t>outliers</a:t>
            </a:r>
            <a:r>
              <a:rPr lang="pt-BR" dirty="0"/>
              <a:t>.</a:t>
            </a:r>
          </a:p>
          <a:p>
            <a:pPr rtl="0"/>
            <a:r>
              <a:rPr lang="pt-BR" b="1" dirty="0"/>
              <a:t>IQR (</a:t>
            </a:r>
            <a:r>
              <a:rPr lang="pt-BR" b="1" i="1" dirty="0" err="1"/>
              <a:t>tukey</a:t>
            </a:r>
            <a:r>
              <a:rPr lang="pt-BR" b="1" i="1" dirty="0"/>
              <a:t> </a:t>
            </a:r>
            <a:r>
              <a:rPr lang="pt-BR" b="1" i="1" dirty="0" err="1"/>
              <a:t>fence</a:t>
            </a:r>
            <a:r>
              <a:rPr lang="pt-BR" b="1" dirty="0"/>
              <a:t>): </a:t>
            </a:r>
            <a:r>
              <a:rPr lang="pt-BR" dirty="0"/>
              <a:t>valores fora do intervalo [Q</a:t>
            </a:r>
            <a:r>
              <a:rPr lang="pt-BR" baseline="-25000" dirty="0"/>
              <a:t>1</a:t>
            </a:r>
            <a:r>
              <a:rPr lang="pt-BR" dirty="0"/>
              <a:t> – 1.5*IQR, Q</a:t>
            </a:r>
            <a:r>
              <a:rPr lang="pt-BR" baseline="-25000" dirty="0"/>
              <a:t>3</a:t>
            </a:r>
            <a:r>
              <a:rPr lang="pt-BR" dirty="0"/>
              <a:t> + 1.5*IQR] podem ser considerados </a:t>
            </a:r>
            <a:r>
              <a:rPr lang="pt-BR" i="1" dirty="0"/>
              <a:t>outliers</a:t>
            </a:r>
            <a:r>
              <a:rPr lang="pt-BR" dirty="0"/>
              <a:t>.</a:t>
            </a:r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1097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343740"/>
            <a:ext cx="8297380" cy="1326514"/>
          </a:xfrm>
        </p:spPr>
        <p:txBody>
          <a:bodyPr/>
          <a:lstStyle/>
          <a:p>
            <a:pPr algn="ctr"/>
            <a:r>
              <a:rPr lang="pt-BR" sz="3200" dirty="0"/>
              <a:t>BOXPLOT PARA ANÁLISE DE OUTLIERS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47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1939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MÉTODO DE TUKEY (</a:t>
            </a:r>
            <a:r>
              <a:rPr lang="pt-BR" i="1" dirty="0" err="1"/>
              <a:t>tukey</a:t>
            </a:r>
            <a:r>
              <a:rPr lang="pt-BR" i="1" dirty="0"/>
              <a:t> </a:t>
            </a:r>
            <a:r>
              <a:rPr lang="pt-BR" i="1" dirty="0" err="1"/>
              <a:t>fences</a:t>
            </a:r>
            <a:r>
              <a:rPr lang="pt-BR" dirty="0"/>
              <a:t>)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446320" cy="44307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Essa técnica utiliza o intervalo interquartil (IQR) para identificar valores de um atributo que estão, significativamente, longe da maioria dos dados.</a:t>
            </a:r>
          </a:p>
          <a:p>
            <a:pPr rtl="0"/>
            <a:r>
              <a:rPr lang="pt-BR" dirty="0"/>
              <a:t>Procedimento:</a:t>
            </a:r>
          </a:p>
          <a:p>
            <a:pPr lvl="1"/>
            <a:r>
              <a:rPr lang="pt-BR" dirty="0"/>
              <a:t>Calculam-se os quartis (Q</a:t>
            </a:r>
            <a:r>
              <a:rPr lang="pt-BR" baseline="-25000" dirty="0"/>
              <a:t>1</a:t>
            </a:r>
            <a:r>
              <a:rPr lang="pt-BR" dirty="0"/>
              <a:t>, Q</a:t>
            </a:r>
            <a:r>
              <a:rPr lang="pt-BR" baseline="-25000" dirty="0"/>
              <a:t>3</a:t>
            </a:r>
            <a:r>
              <a:rPr lang="pt-BR" dirty="0"/>
              <a:t> e IQR).</a:t>
            </a:r>
          </a:p>
          <a:p>
            <a:pPr lvl="1"/>
            <a:r>
              <a:rPr lang="pt-BR" dirty="0"/>
              <a:t>Definem-se os limites </a:t>
            </a:r>
            <a:r>
              <a:rPr lang="pt-BR" i="1" dirty="0"/>
              <a:t>(</a:t>
            </a:r>
            <a:r>
              <a:rPr lang="pt-BR" i="1" dirty="0" err="1"/>
              <a:t>fences</a:t>
            </a:r>
            <a:r>
              <a:rPr lang="pt-BR" dirty="0"/>
              <a:t>):</a:t>
            </a:r>
          </a:p>
          <a:p>
            <a:pPr marL="457200" lvl="1" indent="0">
              <a:buNone/>
            </a:pPr>
            <a:endParaRPr lang="pt-BR" dirty="0"/>
          </a:p>
          <a:p>
            <a:pPr lvl="2"/>
            <a:r>
              <a:rPr lang="pt-BR" dirty="0"/>
              <a:t>limite inferior: Q</a:t>
            </a:r>
            <a:r>
              <a:rPr lang="pt-BR" baseline="-25000" dirty="0"/>
              <a:t>1</a:t>
            </a:r>
            <a:r>
              <a:rPr lang="pt-BR" dirty="0"/>
              <a:t> – 1.5*IQR.</a:t>
            </a:r>
          </a:p>
          <a:p>
            <a:pPr lvl="2"/>
            <a:r>
              <a:rPr lang="pt-BR" dirty="0"/>
              <a:t>limite superior: Q</a:t>
            </a:r>
            <a:r>
              <a:rPr lang="pt-BR" baseline="-25000" dirty="0"/>
              <a:t>3</a:t>
            </a:r>
            <a:r>
              <a:rPr lang="pt-BR" dirty="0"/>
              <a:t> + 1.5*IQR.</a:t>
            </a:r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52696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MÉTODO DE TUKEY (</a:t>
            </a:r>
            <a:r>
              <a:rPr lang="pt-BR" i="1" dirty="0" err="1"/>
              <a:t>tukey</a:t>
            </a:r>
            <a:r>
              <a:rPr lang="pt-BR" i="1" dirty="0"/>
              <a:t> </a:t>
            </a:r>
            <a:r>
              <a:rPr lang="pt-BR" i="1" dirty="0" err="1"/>
              <a:t>fences</a:t>
            </a:r>
            <a:r>
              <a:rPr lang="pt-BR" dirty="0"/>
              <a:t>)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446320" cy="44307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Se uma instância é assinalada como </a:t>
            </a:r>
            <a:r>
              <a:rPr lang="pt-BR" i="1" dirty="0"/>
              <a:t>outlier </a:t>
            </a:r>
            <a:r>
              <a:rPr lang="pt-BR" dirty="0"/>
              <a:t>n&gt;1 vezes, deve-se pensar em removê-la.</a:t>
            </a:r>
            <a:endParaRPr lang="pt-B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pt-BR" b="1" dirty="0">
                <a:solidFill>
                  <a:srgbClr val="FF0000"/>
                </a:solidFill>
              </a:rPr>
              <a:t>Valores abaixo do limite inferior ou acima do limite inferior são considerados </a:t>
            </a:r>
            <a:r>
              <a:rPr lang="pt-BR" b="1" i="1" dirty="0">
                <a:solidFill>
                  <a:srgbClr val="FF0000"/>
                </a:solidFill>
              </a:rPr>
              <a:t>outliers</a:t>
            </a:r>
            <a:endParaRPr lang="pt-B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81036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343740"/>
            <a:ext cx="8297380" cy="1326514"/>
          </a:xfrm>
        </p:spPr>
        <p:txBody>
          <a:bodyPr/>
          <a:lstStyle/>
          <a:p>
            <a:pPr algn="ctr"/>
            <a:r>
              <a:rPr lang="pt-BR" sz="3200" dirty="0"/>
              <a:t>PRÉ-PROCESSAMENTO DE DADOS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50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7919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PRÉ-PROCESSAMENTO DE DADOS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Alguns modelos de ML performam melhor, ou convergem mais rapidamente, se os dados compartilham uma escala comum ou se são normalmente distribuídos.</a:t>
            </a:r>
          </a:p>
          <a:p>
            <a:pPr rtl="0"/>
            <a:r>
              <a:rPr lang="pt-BR" dirty="0"/>
              <a:t>Por exemplo:</a:t>
            </a:r>
          </a:p>
          <a:p>
            <a:pPr lvl="1"/>
            <a:r>
              <a:rPr lang="pt-BR" dirty="0"/>
              <a:t>Regressão Linear e Logística.</a:t>
            </a:r>
          </a:p>
          <a:p>
            <a:pPr lvl="1"/>
            <a:r>
              <a:rPr lang="pt-BR" dirty="0" err="1"/>
              <a:t>kNN</a:t>
            </a:r>
            <a:r>
              <a:rPr lang="pt-BR" dirty="0"/>
              <a:t> (k-</a:t>
            </a:r>
            <a:r>
              <a:rPr lang="pt-BR" dirty="0" err="1"/>
              <a:t>Nearest</a:t>
            </a:r>
            <a:r>
              <a:rPr lang="pt-BR" dirty="0"/>
              <a:t> </a:t>
            </a:r>
            <a:r>
              <a:rPr lang="pt-BR" dirty="0" err="1"/>
              <a:t>Neighbors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Redes Neurais Artificiais.</a:t>
            </a:r>
          </a:p>
          <a:p>
            <a:pPr lvl="1"/>
            <a:r>
              <a:rPr lang="pt-BR" dirty="0"/>
              <a:t>SVM (</a:t>
            </a:r>
            <a:r>
              <a:rPr lang="pt-BR" dirty="0" err="1"/>
              <a:t>Support</a:t>
            </a:r>
            <a:r>
              <a:rPr lang="pt-BR" dirty="0"/>
              <a:t> Vector Machine).</a:t>
            </a:r>
          </a:p>
          <a:p>
            <a:pPr lvl="1"/>
            <a:r>
              <a:rPr lang="pt-BR" dirty="0"/>
              <a:t>CPA (</a:t>
            </a:r>
            <a:r>
              <a:rPr lang="pt-BR" dirty="0" err="1"/>
              <a:t>Component</a:t>
            </a:r>
            <a:r>
              <a:rPr lang="pt-BR" dirty="0"/>
              <a:t> Principal </a:t>
            </a:r>
            <a:r>
              <a:rPr lang="pt-BR" dirty="0" err="1"/>
              <a:t>Analysis</a:t>
            </a:r>
            <a:r>
              <a:rPr lang="pt-BR" dirty="0"/>
              <a:t>.</a:t>
            </a:r>
          </a:p>
          <a:p>
            <a:pPr lvl="1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3738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PRÉ-PROCESSAMENTO DE DADOS-KNN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52</a:t>
            </a:fld>
            <a:endParaRPr lang="pt-BR" dirty="0"/>
          </a:p>
        </p:txBody>
      </p:sp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9F259A5F-6F97-CE16-8024-957A041AE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584" y="1780404"/>
            <a:ext cx="7004860" cy="435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132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PRÉ-PROCESSAMENTO DE DADOS-KNN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Usa a </a:t>
            </a:r>
            <a:r>
              <a:rPr lang="pt-BR" u="sng" dirty="0"/>
              <a:t>distância euclidiana (d)</a:t>
            </a:r>
            <a:r>
              <a:rPr lang="pt-BR" dirty="0"/>
              <a:t> para o cálculo da distância ou similaridade entre pontos de dados.</a:t>
            </a:r>
          </a:p>
          <a:p>
            <a:pPr rtl="0"/>
            <a:r>
              <a:rPr lang="pt-BR" dirty="0"/>
              <a:t>Cada atributo representa uma dimensão em um plano cartesiano (hiperplano). 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53</a:t>
            </a:fld>
            <a:endParaRPr lang="pt-BR" dirty="0"/>
          </a:p>
        </p:txBody>
      </p:sp>
      <p:pic>
        <p:nvPicPr>
          <p:cNvPr id="6" name="Imagem 5" descr="Tela de computador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05DE53AA-1423-62CA-FE85-C278C81EE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62" y="3929784"/>
            <a:ext cx="2972058" cy="8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39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PRÉ-PROCESSAMENTO DE DADOS-KNN</a:t>
            </a: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54</a:t>
            </a:fld>
            <a:endParaRPr lang="pt-BR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7D0155B-13FF-8BEF-C8CF-3BC04EFA4A3D}"/>
              </a:ext>
            </a:extLst>
          </p:cNvPr>
          <p:cNvGraphicFramePr>
            <a:graphicFrameLocks noGrp="1"/>
          </p:cNvGraphicFramePr>
          <p:nvPr/>
        </p:nvGraphicFramePr>
        <p:xfrm>
          <a:off x="893064" y="1710297"/>
          <a:ext cx="8128000" cy="12532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589947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89185699"/>
                    </a:ext>
                  </a:extLst>
                </a:gridCol>
                <a:gridCol w="1872343">
                  <a:extLst>
                    <a:ext uri="{9D8B030D-6E8A-4147-A177-3AD203B41FA5}">
                      <a16:colId xmlns:a16="http://schemas.microsoft.com/office/drawing/2014/main" val="1988248388"/>
                    </a:ext>
                  </a:extLst>
                </a:gridCol>
                <a:gridCol w="1378857">
                  <a:extLst>
                    <a:ext uri="{9D8B030D-6E8A-4147-A177-3AD203B41FA5}">
                      <a16:colId xmlns:a16="http://schemas.microsoft.com/office/drawing/2014/main" val="26442560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80044064"/>
                    </a:ext>
                  </a:extLst>
                </a:gridCol>
              </a:tblGrid>
              <a:tr h="511546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Criminalidade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913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Baixo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Curitiba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70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Curitiba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880319"/>
                  </a:ext>
                </a:extLst>
              </a:tr>
            </a:tbl>
          </a:graphicData>
        </a:graphic>
      </p:graphicFrame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B2DAAE6D-92F8-A530-A93F-D78BB08279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3179388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b="1" dirty="0"/>
              <a:t>Idade:</a:t>
            </a:r>
            <a:r>
              <a:rPr lang="pt-BR" dirty="0"/>
              <a:t> (30-60)</a:t>
            </a:r>
            <a:r>
              <a:rPr lang="pt-BR" baseline="30000" dirty="0"/>
              <a:t>2</a:t>
            </a:r>
            <a:r>
              <a:rPr lang="pt-BR" dirty="0"/>
              <a:t>=900</a:t>
            </a:r>
          </a:p>
          <a:p>
            <a:pPr rtl="0"/>
            <a:r>
              <a:rPr lang="pt-BR" b="1" dirty="0"/>
              <a:t>Renda:</a:t>
            </a:r>
            <a:r>
              <a:rPr lang="pt-BR" dirty="0"/>
              <a:t> (5.000-6.000)</a:t>
            </a:r>
            <a:r>
              <a:rPr lang="pt-BR" baseline="30000" dirty="0"/>
              <a:t>2</a:t>
            </a:r>
            <a:r>
              <a:rPr lang="pt-BR" dirty="0"/>
              <a:t>=1.000.000</a:t>
            </a:r>
          </a:p>
          <a:p>
            <a:pPr rtl="0"/>
            <a:r>
              <a:rPr lang="pt-BR" b="1" dirty="0"/>
              <a:t>Valor:</a:t>
            </a:r>
            <a:r>
              <a:rPr lang="pt-BR" dirty="0"/>
              <a:t> (200.000-50.000)</a:t>
            </a:r>
            <a:r>
              <a:rPr lang="pt-BR" baseline="30000" dirty="0"/>
              <a:t>2</a:t>
            </a:r>
            <a:r>
              <a:rPr lang="pt-BR" dirty="0"/>
              <a:t>=225*10</a:t>
            </a:r>
            <a:r>
              <a:rPr lang="pt-BR" baseline="30000" dirty="0"/>
              <a:t>8</a:t>
            </a:r>
          </a:p>
          <a:p>
            <a:pPr rtl="0"/>
            <a:r>
              <a:rPr lang="pt-BR" b="1" dirty="0"/>
              <a:t>Criminalidade:</a:t>
            </a:r>
            <a:r>
              <a:rPr lang="pt-BR" dirty="0"/>
              <a:t> (Baixo-Médio)</a:t>
            </a:r>
            <a:r>
              <a:rPr lang="pt-BR" baseline="30000" dirty="0"/>
              <a:t>2</a:t>
            </a:r>
            <a:r>
              <a:rPr lang="pt-BR" dirty="0"/>
              <a:t>=1</a:t>
            </a:r>
          </a:p>
          <a:p>
            <a:pPr rtl="0"/>
            <a:r>
              <a:rPr lang="pt-BR" b="1" dirty="0"/>
              <a:t>Cidade:</a:t>
            </a:r>
            <a:r>
              <a:rPr lang="pt-BR" dirty="0"/>
              <a:t> (0-0)</a:t>
            </a:r>
            <a:r>
              <a:rPr lang="pt-BR" baseline="30000" dirty="0"/>
              <a:t>2</a:t>
            </a:r>
            <a:r>
              <a:rPr lang="pt-BR" dirty="0"/>
              <a:t>=0</a:t>
            </a:r>
          </a:p>
          <a:p>
            <a:pPr rtl="0"/>
            <a:r>
              <a:rPr lang="pt-BR" b="1" dirty="0"/>
              <a:t>Soma:</a:t>
            </a:r>
            <a:r>
              <a:rPr lang="pt-BR" dirty="0"/>
              <a:t> 900+1.000.000+225*10</a:t>
            </a:r>
            <a:r>
              <a:rPr lang="pt-BR" baseline="30000" dirty="0"/>
              <a:t>8</a:t>
            </a:r>
            <a:r>
              <a:rPr lang="pt-BR" dirty="0"/>
              <a:t>+1+0</a:t>
            </a:r>
          </a:p>
          <a:p>
            <a:pPr rtl="0"/>
            <a:r>
              <a:rPr lang="pt-BR" b="1" dirty="0"/>
              <a:t>Distância:</a:t>
            </a:r>
            <a:r>
              <a:rPr lang="pt-BR" dirty="0"/>
              <a:t> </a:t>
            </a:r>
            <a:r>
              <a:rPr lang="pt-BR" dirty="0" err="1"/>
              <a:t>sqrt</a:t>
            </a:r>
            <a:r>
              <a:rPr lang="pt-BR" dirty="0"/>
              <a:t>(soma)=150.003</a:t>
            </a:r>
          </a:p>
        </p:txBody>
      </p:sp>
    </p:spTree>
    <p:extLst>
      <p:ext uri="{BB962C8B-B14F-4D97-AF65-F5344CB8AC3E}">
        <p14:creationId xmlns:p14="http://schemas.microsoft.com/office/powerpoint/2010/main" val="6024725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343740"/>
            <a:ext cx="8297380" cy="1326514"/>
          </a:xfrm>
        </p:spPr>
        <p:txBody>
          <a:bodyPr/>
          <a:lstStyle/>
          <a:p>
            <a:pPr algn="ctr"/>
            <a:r>
              <a:rPr lang="pt-BR" sz="3200" dirty="0"/>
              <a:t>SCALING/STANDARDIZATION/</a:t>
            </a:r>
            <a:br>
              <a:rPr lang="pt-BR" sz="3200" dirty="0"/>
            </a:br>
            <a:r>
              <a:rPr lang="pt-BR" sz="3200" dirty="0"/>
              <a:t>NORMALIZATION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55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90605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295966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SCALING/STANDARDIZATION/NORMALIZATION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b="1" dirty="0" err="1"/>
              <a:t>Scaling</a:t>
            </a:r>
            <a:r>
              <a:rPr lang="pt-BR" b="1" dirty="0"/>
              <a:t>:</a:t>
            </a:r>
            <a:r>
              <a:rPr lang="pt-BR" b="1" i="1" dirty="0"/>
              <a:t> </a:t>
            </a:r>
            <a:r>
              <a:rPr lang="pt-BR" dirty="0"/>
              <a:t>o intervalo em que os dados estão dispostos muda. Entretanto, o comportamento (shape) dos dados não muda. A escala [0,1] é, geralmente, a mais usada.</a:t>
            </a:r>
          </a:p>
          <a:p>
            <a:pPr rtl="0"/>
            <a:r>
              <a:rPr lang="pt-BR" b="1" dirty="0" err="1"/>
              <a:t>Standardization</a:t>
            </a:r>
            <a:r>
              <a:rPr lang="pt-BR" dirty="0"/>
              <a:t>: o intervalo em que os dados estão dispostos muda de modo que o desvio-padrão passa a ser igual a 1 e a média igual a 0. A nova distribuição tende a se aproximar de uma normal gaussiana.</a:t>
            </a:r>
          </a:p>
          <a:p>
            <a:pPr rtl="0"/>
            <a:r>
              <a:rPr lang="pt-BR" b="1" dirty="0" err="1"/>
              <a:t>Normalization</a:t>
            </a:r>
            <a:r>
              <a:rPr lang="pt-BR" b="1" dirty="0"/>
              <a:t>:</a:t>
            </a:r>
            <a:r>
              <a:rPr lang="pt-BR" dirty="0"/>
              <a:t> sinônimo de </a:t>
            </a:r>
            <a:r>
              <a:rPr lang="pt-BR" i="1" dirty="0" err="1"/>
              <a:t>standardization</a:t>
            </a:r>
            <a:r>
              <a:rPr lang="pt-BR" dirty="0"/>
              <a:t>, mas o conceito é mais amplo.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6393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102486"/>
            <a:ext cx="8297380" cy="1326514"/>
          </a:xfrm>
        </p:spPr>
        <p:txBody>
          <a:bodyPr/>
          <a:lstStyle/>
          <a:p>
            <a:pPr algn="ctr"/>
            <a:r>
              <a:rPr lang="pt-BR" sz="3200" dirty="0"/>
              <a:t>DADOS FALTANTES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57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00112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295966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DADOS FALTANTES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Bastante comum em conjunto de dados.</a:t>
            </a:r>
          </a:p>
          <a:p>
            <a:pPr rtl="0"/>
            <a:r>
              <a:rPr lang="pt-BR" dirty="0"/>
              <a:t>Principais causas:</a:t>
            </a:r>
          </a:p>
          <a:p>
            <a:pPr lvl="1"/>
            <a:r>
              <a:rPr lang="pt-BR" dirty="0"/>
              <a:t>Informação não disponível até certo momento.</a:t>
            </a:r>
          </a:p>
          <a:p>
            <a:pPr lvl="1"/>
            <a:r>
              <a:rPr lang="pt-BR" dirty="0"/>
              <a:t>Dado não informado pelo entrevistado tendo em vista questões de privacidade.</a:t>
            </a:r>
          </a:p>
          <a:p>
            <a:pPr lvl="1"/>
            <a:endParaRPr lang="pt-BR" dirty="0"/>
          </a:p>
          <a:p>
            <a:r>
              <a:rPr lang="pt-BR" dirty="0"/>
              <a:t>Dados faltantes devem ser tratados.</a:t>
            </a:r>
          </a:p>
          <a:p>
            <a:pPr lvl="1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9302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295966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DADOS FALTANTES: abordagem #1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b="1" u="sng" dirty="0">
                <a:solidFill>
                  <a:srgbClr val="FF0000"/>
                </a:solidFill>
              </a:rPr>
              <a:t>ABORDAGEM #1: apagar as linhas com dados faltantes</a:t>
            </a:r>
          </a:p>
          <a:p>
            <a:pPr marL="0" indent="0" rtl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rtl="0"/>
            <a:r>
              <a:rPr lang="pt-BR" dirty="0"/>
              <a:t>Em alguns casos, o número de linhas com dados faltantes não é tão elevado em relação ao tamanho do conjunto de dados.</a:t>
            </a:r>
          </a:p>
          <a:p>
            <a:pPr rtl="0"/>
            <a:r>
              <a:rPr lang="pt-BR" dirty="0"/>
              <a:t>Nesse caso, é possível utilizar a ABORDAGEM #1 para tratar dados faltantes.</a:t>
            </a:r>
          </a:p>
          <a:p>
            <a:pPr rtl="0"/>
            <a:r>
              <a:rPr lang="pt-BR" dirty="0"/>
              <a:t>Evite apagar linhas de conjuntos de dados pequenos. 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76147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295966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DADOS FALTANTES: abordagem #2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b="1" u="sng" dirty="0">
                <a:solidFill>
                  <a:srgbClr val="FF0000"/>
                </a:solidFill>
              </a:rPr>
              <a:t>ABORDAGEM #2: apagar as linhas em que a maior parte das colunas (características) apresenta dados faltantes</a:t>
            </a:r>
          </a:p>
          <a:p>
            <a:pPr marL="0" indent="0" rtl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rtl="0"/>
            <a:r>
              <a:rPr lang="pt-BR" dirty="0"/>
              <a:t>Abordagem mais ‘robusta’ que a anterior.</a:t>
            </a:r>
          </a:p>
          <a:p>
            <a:pPr rtl="0"/>
            <a:r>
              <a:rPr lang="pt-BR" dirty="0"/>
              <a:t>Devem-se remover as linhas com o maior número de características faltantes, acima de um determinado </a:t>
            </a:r>
            <a:r>
              <a:rPr lang="pt-BR" i="1" dirty="0" err="1"/>
              <a:t>threshold</a:t>
            </a:r>
            <a:r>
              <a:rPr lang="pt-BR" i="1" dirty="0"/>
              <a:t> </a:t>
            </a:r>
            <a:r>
              <a:rPr lang="pt-BR" dirty="0"/>
              <a:t>(70%, 80%, 90%).</a:t>
            </a:r>
          </a:p>
          <a:p>
            <a:pPr rtl="0"/>
            <a:r>
              <a:rPr lang="pt-BR" dirty="0"/>
              <a:t>Evite remover um número excessivo de linhas (</a:t>
            </a:r>
            <a:r>
              <a:rPr lang="pt-BR" i="1" dirty="0"/>
              <a:t>feeling</a:t>
            </a:r>
            <a:r>
              <a:rPr lang="pt-BR" dirty="0"/>
              <a:t>) em relação ao tamanho do conjunto de dados </a:t>
            </a:r>
            <a:r>
              <a:rPr lang="pt-BR" i="1" dirty="0"/>
              <a:t>(shape</a:t>
            </a:r>
            <a:r>
              <a:rPr lang="pt-BR" dirty="0"/>
              <a:t>)</a:t>
            </a:r>
            <a:r>
              <a:rPr lang="pt-BR" i="1" dirty="0"/>
              <a:t>.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53320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295966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DADOS FALTANTES: abordagem #3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44632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b="1" u="sng" dirty="0">
                <a:solidFill>
                  <a:srgbClr val="FF0000"/>
                </a:solidFill>
              </a:rPr>
              <a:t>ABORDAGEM #3: apagar as colunas com o maior número de valores faltantes</a:t>
            </a:r>
          </a:p>
          <a:p>
            <a:pPr marL="0" indent="0" rtl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rtl="0"/>
            <a:r>
              <a:rPr lang="pt-BR" dirty="0"/>
              <a:t>Deve-se fazer uso da experimentação para saber se se deve excluir determinada coluna. </a:t>
            </a:r>
          </a:p>
          <a:p>
            <a:pPr rtl="0"/>
            <a:r>
              <a:rPr lang="pt-BR" dirty="0"/>
              <a:t>Valores faltantes podem possuir algum significado, a depender do contexto em análise.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54708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295966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/>
              <a:t>DADOS FALTANTES: abordagem #4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3062" y="2072640"/>
            <a:ext cx="8708137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b="1" u="sng" dirty="0">
                <a:solidFill>
                  <a:srgbClr val="FF0000"/>
                </a:solidFill>
              </a:rPr>
              <a:t>ABORDAGEM #4: imputação de dados</a:t>
            </a:r>
          </a:p>
          <a:p>
            <a:pPr marL="0" indent="0" rtl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rtl="0"/>
            <a:r>
              <a:rPr lang="pt-BR" dirty="0"/>
              <a:t>Abordagem mais comum. </a:t>
            </a:r>
          </a:p>
          <a:p>
            <a:pPr rtl="0"/>
            <a:r>
              <a:rPr lang="pt-BR" dirty="0"/>
              <a:t>Substitui-se o valor faltante por uma constante (0, +9999, -9999, </a:t>
            </a:r>
            <a:r>
              <a:rPr lang="pt-BR" b="1" dirty="0">
                <a:solidFill>
                  <a:srgbClr val="00B0F0"/>
                </a:solidFill>
              </a:rPr>
              <a:t>média</a:t>
            </a:r>
            <a:r>
              <a:rPr lang="pt-BR" dirty="0"/>
              <a:t>, </a:t>
            </a:r>
            <a:r>
              <a:rPr lang="pt-BR" b="1" dirty="0">
                <a:solidFill>
                  <a:srgbClr val="00B0F0"/>
                </a:solidFill>
              </a:rPr>
              <a:t>mediana</a:t>
            </a:r>
            <a:r>
              <a:rPr lang="pt-BR" dirty="0"/>
              <a:t> ou </a:t>
            </a:r>
            <a:r>
              <a:rPr lang="pt-BR" b="1" dirty="0">
                <a:solidFill>
                  <a:srgbClr val="00B0F0"/>
                </a:solidFill>
              </a:rPr>
              <a:t>moda</a:t>
            </a:r>
            <a:r>
              <a:rPr lang="pt-BR" dirty="0"/>
              <a:t>).</a:t>
            </a:r>
          </a:p>
          <a:p>
            <a:pPr rtl="0"/>
            <a:r>
              <a:rPr lang="pt-BR" dirty="0"/>
              <a:t>Entretanto, a imputação de dados pode não ser a melhor escolha se a estatística adotada não representar um padrão válido nos dados.</a:t>
            </a:r>
          </a:p>
          <a:p>
            <a:pPr marL="0" indent="0" rtl="0">
              <a:buNone/>
            </a:pPr>
            <a:r>
              <a:rPr lang="pt-BR" b="1" dirty="0">
                <a:solidFill>
                  <a:srgbClr val="00B0F0"/>
                </a:solidFill>
              </a:rPr>
              <a:t>* Imputação usando estatísticas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68082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spcAft>
                <a:spcPts val="0"/>
              </a:spcAft>
            </a:pPr>
            <a:r>
              <a:rPr lang="pt-BR" dirty="0"/>
              <a:t>Luiz Carlos R. Neduziak</a:t>
            </a:r>
          </a:p>
          <a:p>
            <a:pPr rtl="0">
              <a:spcAft>
                <a:spcPts val="0"/>
              </a:spcAft>
            </a:pPr>
            <a:r>
              <a:rPr lang="pt-BR" dirty="0"/>
              <a:t>luiz.neduziak@pucpr.br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477_TF16411248_Win32" id="{E0B7C64D-E7E1-4555-8117-61C2A45FE039}" vid="{4C7C9429-2BC7-4AFE-A088-9B9FA8128C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230e9df3-be65-4c73-a93b-d1236ebd677e"/>
    <ds:schemaRef ds:uri="http://schemas.openxmlformats.org/package/2006/metadata/core-properties"/>
    <ds:schemaRef ds:uri="http://purl.org/dc/elements/1.1/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337</TotalTime>
  <Words>2957</Words>
  <Application>Microsoft Office PowerPoint</Application>
  <PresentationFormat>Widescreen</PresentationFormat>
  <Paragraphs>623</Paragraphs>
  <Slides>63</Slides>
  <Notes>63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70" baseType="lpstr">
      <vt:lpstr>Arial</vt:lpstr>
      <vt:lpstr>Avenir Next LT Pro Light</vt:lpstr>
      <vt:lpstr>Calibri</vt:lpstr>
      <vt:lpstr>Cambria Math</vt:lpstr>
      <vt:lpstr>Posterama</vt:lpstr>
      <vt:lpstr>Wingdings</vt:lpstr>
      <vt:lpstr>Personalizado</vt:lpstr>
      <vt:lpstr>Ciência de dados – MODELAGEM AVANÇADA </vt:lpstr>
      <vt:lpstr>LUIZ CARLOS R. NEDUZIAK</vt:lpstr>
      <vt:lpstr>AGENDA (23/08)</vt:lpstr>
      <vt:lpstr>Introdução à Ciência de dados </vt:lpstr>
      <vt:lpstr>Introdução à Ciência de dados</vt:lpstr>
      <vt:lpstr>Apresentação do PowerPoint</vt:lpstr>
      <vt:lpstr>Apresentação do PowerPoint</vt:lpstr>
      <vt:lpstr>PROCESSO DE CIÊNCIA DE DADOS (CRISP-DM)</vt:lpstr>
      <vt:lpstr>big data e ciência de dados </vt:lpstr>
      <vt:lpstr>Big data e Ciência de dados</vt:lpstr>
      <vt:lpstr>Big data e Ciência de dados</vt:lpstr>
      <vt:lpstr>Big data e Ciência de dados</vt:lpstr>
      <vt:lpstr>ferramentas </vt:lpstr>
      <vt:lpstr>ferramentas</vt:lpstr>
      <vt:lpstr>Revisão: ANÁLISE EXPLORATÓRIA DE DADOS (AED) </vt:lpstr>
      <vt:lpstr>ANÁLISE EXPLORATÓRIA DE DADOS (AED)</vt:lpstr>
      <vt:lpstr>ANÁLISE EXPLORATÓRIA DE DADOS (AED)</vt:lpstr>
      <vt:lpstr>POPULAÇÃO VERSUS AMOSTRA</vt:lpstr>
      <vt:lpstr>POPULAÇÃO VERSUS AMOSTRA</vt:lpstr>
      <vt:lpstr>POPULAÇÃO VERSUS AMOSTRA</vt:lpstr>
      <vt:lpstr>ESTATÍSTICAS DESCRITIVAS</vt:lpstr>
      <vt:lpstr>MÉDIA</vt:lpstr>
      <vt:lpstr>MODA</vt:lpstr>
      <vt:lpstr>MEDIANA</vt:lpstr>
      <vt:lpstr>QUARTIS E PERCENTIS</vt:lpstr>
      <vt:lpstr>VARIÂNCIA</vt:lpstr>
      <vt:lpstr>DESVIO PADRÃO</vt:lpstr>
      <vt:lpstr>ANALISANDO DISTRIBUIÇÕES </vt:lpstr>
      <vt:lpstr>ASSIMETRIA</vt:lpstr>
      <vt:lpstr>ASSIMETRIA</vt:lpstr>
      <vt:lpstr>CURTOSE</vt:lpstr>
      <vt:lpstr>BOX PLOT</vt:lpstr>
      <vt:lpstr>BOX PLOT</vt:lpstr>
      <vt:lpstr>BOX PLOT</vt:lpstr>
      <vt:lpstr>BOX PLOT</vt:lpstr>
      <vt:lpstr>Visualização dos dados </vt:lpstr>
      <vt:lpstr>Tipos de dados e visualização</vt:lpstr>
      <vt:lpstr>ANÁLISE univariada</vt:lpstr>
      <vt:lpstr>ANÁLISE MULTIvariada</vt:lpstr>
      <vt:lpstr>LINKS ÚTEIS</vt:lpstr>
      <vt:lpstr>OUTLIERS </vt:lpstr>
      <vt:lpstr>Apresentação do PowerPoint</vt:lpstr>
      <vt:lpstr>OUTLIERS</vt:lpstr>
      <vt:lpstr>OUTLIERS-EXEMPLOS</vt:lpstr>
      <vt:lpstr>OUTLIERS, O QUE FAZER?</vt:lpstr>
      <vt:lpstr>Outliers, como detectar?</vt:lpstr>
      <vt:lpstr>BOXPLOT PARA ANÁLISE DE OUTLIERS</vt:lpstr>
      <vt:lpstr>MÉTODO DE TUKEY (tukey fences)</vt:lpstr>
      <vt:lpstr>MÉTODO DE TUKEY (tukey fences)</vt:lpstr>
      <vt:lpstr>PRÉ-PROCESSAMENTO DE DADOS</vt:lpstr>
      <vt:lpstr>PRÉ-PROCESSAMENTO DE DADOS</vt:lpstr>
      <vt:lpstr>PRÉ-PROCESSAMENTO DE DADOS-KNN</vt:lpstr>
      <vt:lpstr>PRÉ-PROCESSAMENTO DE DADOS-KNN</vt:lpstr>
      <vt:lpstr>PRÉ-PROCESSAMENTO DE DADOS-KNN</vt:lpstr>
      <vt:lpstr>SCALING/STANDARDIZATION/ NORMALIZATION</vt:lpstr>
      <vt:lpstr>SCALING/STANDARDIZATION/NORMALIZATION</vt:lpstr>
      <vt:lpstr>DADOS FALTANTES</vt:lpstr>
      <vt:lpstr>DADOS FALTANTES</vt:lpstr>
      <vt:lpstr>DADOS FALTANTES: abordagem #1</vt:lpstr>
      <vt:lpstr>DADOS FALTANTES: abordagem #2</vt:lpstr>
      <vt:lpstr>DADOS FALTANTES: abordagem #3</vt:lpstr>
      <vt:lpstr>DADOS FALTANTES: abordagem #4</vt:lpstr>
      <vt:lpstr>Obrigado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básica</dc:title>
  <dc:creator>Luiz Carlos Ribeiro Neduziak</dc:creator>
  <cp:lastModifiedBy>Luiz Carlos Neduziak</cp:lastModifiedBy>
  <cp:revision>250</cp:revision>
  <cp:lastPrinted>2024-05-15T14:51:35Z</cp:lastPrinted>
  <dcterms:created xsi:type="dcterms:W3CDTF">2024-05-13T18:48:13Z</dcterms:created>
  <dcterms:modified xsi:type="dcterms:W3CDTF">2025-08-22T18:51:09Z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
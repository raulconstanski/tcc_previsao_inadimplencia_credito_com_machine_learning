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43"/>
  </p:notesMasterIdLst>
  <p:handoutMasterIdLst>
    <p:handoutMasterId r:id="rId44"/>
  </p:handoutMasterIdLst>
  <p:sldIdLst>
    <p:sldId id="348" r:id="rId5"/>
    <p:sldId id="381" r:id="rId6"/>
    <p:sldId id="395" r:id="rId7"/>
    <p:sldId id="441" r:id="rId8"/>
    <p:sldId id="413" r:id="rId9"/>
    <p:sldId id="443" r:id="rId10"/>
    <p:sldId id="414" r:id="rId11"/>
    <p:sldId id="416" r:id="rId12"/>
    <p:sldId id="444" r:id="rId13"/>
    <p:sldId id="417" r:id="rId14"/>
    <p:sldId id="418" r:id="rId15"/>
    <p:sldId id="419" r:id="rId16"/>
    <p:sldId id="445" r:id="rId17"/>
    <p:sldId id="446" r:id="rId18"/>
    <p:sldId id="421" r:id="rId19"/>
    <p:sldId id="422" r:id="rId20"/>
    <p:sldId id="423" r:id="rId21"/>
    <p:sldId id="425" r:id="rId22"/>
    <p:sldId id="424" r:id="rId23"/>
    <p:sldId id="426" r:id="rId24"/>
    <p:sldId id="427" r:id="rId25"/>
    <p:sldId id="428" r:id="rId26"/>
    <p:sldId id="415" r:id="rId27"/>
    <p:sldId id="447" r:id="rId28"/>
    <p:sldId id="429" r:id="rId29"/>
    <p:sldId id="442" r:id="rId30"/>
    <p:sldId id="430" r:id="rId31"/>
    <p:sldId id="431" r:id="rId32"/>
    <p:sldId id="432" r:id="rId33"/>
    <p:sldId id="433" r:id="rId34"/>
    <p:sldId id="434" r:id="rId35"/>
    <p:sldId id="435" r:id="rId36"/>
    <p:sldId id="436" r:id="rId37"/>
    <p:sldId id="437" r:id="rId38"/>
    <p:sldId id="438" r:id="rId39"/>
    <p:sldId id="439" r:id="rId40"/>
    <p:sldId id="440" r:id="rId41"/>
    <p:sldId id="347" r:id="rId42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5" name="Autor" initials="A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94" autoAdjust="0"/>
  </p:normalViewPr>
  <p:slideViewPr>
    <p:cSldViewPr snapToGrid="0">
      <p:cViewPr varScale="1">
        <p:scale>
          <a:sx n="103" d="100"/>
          <a:sy n="103" d="100"/>
        </p:scale>
        <p:origin x="48" y="64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94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5608A2FC-94EB-4E78-A22A-4C048CB24776}" type="datetime1">
              <a:rPr lang="pt-BR" smtClean="0"/>
              <a:t>04/09/2025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9E9D563E-BCB2-465B-8A3C-AC86CE64F69C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AD503E83-D289-449C-983E-79AA9113407F}" type="datetime1">
              <a:rPr lang="pt-BR" smtClean="0"/>
              <a:pPr/>
              <a:t>04/09/2025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noProof="0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8B990660-4B7D-4C11-96DB-B19FFA8CA93C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B990660-4B7D-4C11-96DB-B19FFA8CA93C}" type="slidenum">
              <a:rPr lang="pt-BR" noProof="0" smtClean="0"/>
              <a:t>1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7912864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2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12027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8880A-BC0A-8979-B301-37C617EE5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8A1B3023-1679-9743-ABBA-39A7E78495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7F4B5B0E-7197-0343-5702-B92157496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95DE19A7-AAFA-0A21-906E-49BB53D5EA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3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76173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429FC-D04D-8AA3-D471-8562F1339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927F947E-11E2-7106-7A2C-9BA5AD027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F7376C55-98F4-7475-0143-F871DE2CA0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DA222DD-84D3-069F-9940-75CBD94086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4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980267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B990660-4B7D-4C11-96DB-B19FFA8CA93C}" type="slidenum">
              <a:rPr lang="pt-BR" noProof="0" smtClean="0"/>
              <a:t>5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480211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10AEA-69A9-3AD0-85FA-7AA35FBD0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F358F561-C532-287D-E7F9-DF4709723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ED0A031B-370E-C01E-DA91-D8E10DAD6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585F5A5A-772E-174C-B41B-59DFE93760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6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506950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7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0970367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8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9666236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20507-FF23-3F38-B5A4-F422C42BB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880970DF-810A-F45E-8763-4AC3105988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B9B110A0-7374-7C4D-DE9C-8B1B816D4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F09C6E57-A427-398B-6175-3FE04F463A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9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8031588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B990660-4B7D-4C11-96DB-B19FFA8CA93C}" type="slidenum">
              <a:rPr lang="pt-BR" noProof="0" smtClean="0"/>
              <a:t>10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1048839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11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5889712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12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820777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ADBF4-A758-68A5-4902-0BC390855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335F0FA6-9A01-2D89-A1C7-EB5FA53DC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478EED2D-17C4-6D13-5847-4629C06120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FAE77348-C0BD-A1FD-D9B6-81C78DAC41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13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5842794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6A475-081A-37C9-2029-66742A37E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FAD58369-BD09-F6EA-A6B1-9B47E4F8F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5B0A7A29-294D-3DCE-F0A9-2EDB193F5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CB9D005-8DD0-8D5C-251E-BD5DC1B2F6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14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9184740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15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7989877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16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1604859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17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07144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18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9652061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19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2211249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B990660-4B7D-4C11-96DB-B19FFA8CA93C}" type="slidenum">
              <a:rPr lang="pt-BR" noProof="0" smtClean="0"/>
              <a:t>20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9477514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21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0227678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22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2036432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23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8048353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7DB7F-4E2A-E193-C153-12921CBD0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0D9A648C-8E7B-F8D1-27F5-F30C4AB127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9594BF47-6F76-F7B9-D9A4-DB37DAC3B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39387786-E60B-959D-76E8-60F41F559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24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277600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BE220-952C-6544-4777-8EF8B7BBA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14D251B-6822-5AB0-A05C-1A43EA0CF9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D6638EC-3AA0-61D1-003D-DD506D3EC1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043ED92-2B2E-2A46-6E84-F7AE9AA94D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B990660-4B7D-4C11-96DB-B19FFA8CA93C}" type="slidenum">
              <a:rPr lang="pt-BR" noProof="0" smtClean="0"/>
              <a:t>25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7812762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C9ED3-2C72-AA49-8CF3-8401FC170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88C05978-79E8-E2FA-98B0-0C63B13F5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24E09022-38E4-FDDE-8481-80DB36F2D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7506BFD3-E836-E4F1-00F8-460B9B8449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26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4388710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E224C-9DE8-5822-862C-3A7E1D1D2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81BC0FA4-53CE-2370-0578-55E1187D6A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D903D408-172F-7B8C-81A4-0CDA158D92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DD1BE96-7C2F-A291-55A7-B2338D90DF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27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9599753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EFA18-A7E5-1446-C5F9-DCEFBE7CE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B873AC15-F14B-D12D-C10D-C0CE02F0A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449DAA05-6C61-8E6B-6301-94834B6B3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3A3F6805-1005-EC97-2957-3CD3928D09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28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1996503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B28F9-6E59-2BB2-1501-C80516742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6939E59-507B-D450-807F-CEA302BE39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F5BBDCF-1A68-6A03-9AC0-4C8C956619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770CB4A-BAA6-CCB9-0C79-2DB51552F3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B990660-4B7D-4C11-96DB-B19FFA8CA93C}" type="slidenum">
              <a:rPr lang="pt-BR" noProof="0" smtClean="0"/>
              <a:t>29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0221881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118F9-BF38-9744-B792-B76215A6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F722729D-F3C2-A4E6-E40B-90B78E576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545B299E-14B1-8505-EC81-580861681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EEB47452-1D84-0391-3B87-B5046C7CCE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30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6620272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7AF57-CB64-79AE-384C-A20662EB4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9DBFDF7-BA67-D554-7AE7-351DA5F58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714F957-3734-56B8-BDBB-799ED59DC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8924C36-DE60-50D2-8962-D36124C6B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B990660-4B7D-4C11-96DB-B19FFA8CA93C}" type="slidenum">
              <a:rPr lang="pt-BR" noProof="0" smtClean="0"/>
              <a:t>31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940099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4B1CD-7D2D-9DD4-92D7-2A34688CA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BA25989D-7BCF-4CC4-18F6-8BF07DCBA0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FCE7B9B3-717D-8191-35E1-F931B74EA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13E9F0E-50DD-4A56-56F0-D4183A51D4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32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74315150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6D705-5507-95B6-B3B9-22F7CAE4C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8E8055B-E0F5-BB4E-F451-447B541B5E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F7B7B71-DD93-CC81-C56F-D08204F31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BBD376-3EEA-422C-D2AA-66C1490E79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B990660-4B7D-4C11-96DB-B19FFA8CA93C}" type="slidenum">
              <a:rPr lang="pt-BR" noProof="0" smtClean="0"/>
              <a:t>33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04561239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CEF3A-AF40-E319-367F-4609C4C5E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241FB2D8-7A0D-B5F4-AA89-347E1A7898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A2738192-F426-24F8-51D8-F2A80BDB8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9EA8757F-7D37-0384-4BC4-AA9F9F840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34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62244840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AE36-377B-5B2D-4796-FC733875B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3D42DEB-38F9-8B81-2199-20A9DD9E9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4B4C2C9-83E3-94D2-A86F-98755D55B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751652-8BB8-6C76-657F-2DAEA2F1DB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B990660-4B7D-4C11-96DB-B19FFA8CA93C}" type="slidenum">
              <a:rPr lang="pt-BR" noProof="0" smtClean="0"/>
              <a:t>35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7719811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022A9-F18E-F162-83D0-291CB71C0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9607C703-BBA5-B74E-79BE-72E36F2E9D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755F27CD-BD94-9815-6A32-62C3A4B353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44B4CC6D-CFD6-6474-2F8F-40C869DC42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36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19483215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62752-D442-9947-E6CC-C39FFBC65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>
            <a:extLst>
              <a:ext uri="{FF2B5EF4-FFF2-40B4-BE49-F238E27FC236}">
                <a16:creationId xmlns:a16="http://schemas.microsoft.com/office/drawing/2014/main" id="{8D007A73-DEC0-8600-23D9-CD718253A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>
            <a:extLst>
              <a:ext uri="{FF2B5EF4-FFF2-40B4-BE49-F238E27FC236}">
                <a16:creationId xmlns:a16="http://schemas.microsoft.com/office/drawing/2014/main" id="{C6713065-BD88-21A7-582B-F6C3616F8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00EDEA2A-8CBF-F950-125E-A14EF0F0B9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37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41457060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8B990660-4B7D-4C11-96DB-B19FFA8CA93C}" type="slidenum">
              <a:rPr lang="pt-BR" noProof="0" smtClean="0"/>
              <a:t>38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845341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rtlCol="0" anchor="b">
            <a:normAutofit/>
          </a:bodyPr>
          <a:lstStyle>
            <a:lvl1pPr algn="l">
              <a:defRPr lang="pt-BR" sz="4000" b="1" baseline="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 rtlCol="0"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 </a:t>
            </a:r>
          </a:p>
          <a:p>
            <a:pPr lvl="3" rtl="0"/>
            <a:r>
              <a:rPr lang="pt-BR"/>
              <a:t>Quarto nível </a:t>
            </a:r>
          </a:p>
          <a:p>
            <a:pPr lvl="4" rtl="0"/>
            <a:r>
              <a:rPr lang="pt-BR"/>
              <a:t>Quinto nível </a:t>
            </a:r>
          </a:p>
          <a:p>
            <a:pPr lvl="0"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pt-BR"/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a seção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rtlCol="0" anchor="b">
            <a:normAutofit/>
          </a:bodyPr>
          <a:lstStyle>
            <a:lvl1pPr>
              <a:defRPr lang="pt-BR" sz="40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ção Título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rtlCol="0" anchor="b">
            <a:normAutofit/>
          </a:bodyPr>
          <a:lstStyle>
            <a:lvl1pPr>
              <a:defRPr lang="pt-BR" sz="40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 rtlCol="0">
            <a:normAutofit/>
          </a:bodyPr>
          <a:lstStyle>
            <a:lvl1pPr marL="0" indent="0">
              <a:buNone/>
              <a:defRPr lang="pt-BR" sz="2800"/>
            </a:lvl1pPr>
            <a:lvl2pPr marL="457200" indent="0">
              <a:buNone/>
              <a:defRPr lang="pt-BR" sz="2400"/>
            </a:lvl2pPr>
            <a:lvl3pPr marL="914400" indent="0">
              <a:buNone/>
              <a:defRPr lang="pt-BR" sz="2000"/>
            </a:lvl3pPr>
            <a:lvl4pPr marL="1371600" indent="0">
              <a:buNone/>
              <a:defRPr lang="pt-BR" sz="1800"/>
            </a:lvl4pPr>
            <a:lvl5pPr marL="1828800" indent="0">
              <a:buNone/>
              <a:defRPr lang="pt-BR" sz="18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a seção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rtlCol="0" anchor="b">
            <a:normAutofit/>
          </a:bodyPr>
          <a:lstStyle>
            <a:lvl1pPr>
              <a:defRPr lang="pt-BR" sz="400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675" name="Espaço Reservado para Texto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buNone/>
              <a:defRPr lang="pt-BR" sz="2800"/>
            </a:lvl1pPr>
            <a:lvl2pPr marL="457200" indent="0">
              <a:lnSpc>
                <a:spcPts val="2400"/>
              </a:lnSpc>
              <a:buNone/>
              <a:defRPr lang="pt-BR" sz="2000"/>
            </a:lvl2pPr>
            <a:lvl3pPr marL="914400" indent="0">
              <a:lnSpc>
                <a:spcPts val="2400"/>
              </a:lnSpc>
              <a:buNone/>
              <a:defRPr lang="pt-BR" sz="2000"/>
            </a:lvl3pPr>
            <a:lvl4pPr marL="1371600" indent="0">
              <a:lnSpc>
                <a:spcPts val="2400"/>
              </a:lnSpc>
              <a:buNone/>
              <a:defRPr lang="pt-BR" sz="2000"/>
            </a:lvl4pPr>
            <a:lvl5pPr marL="1828800" indent="0">
              <a:lnSpc>
                <a:spcPts val="2400"/>
              </a:lnSpc>
              <a:buNone/>
              <a:defRPr lang="pt-BR" sz="2000"/>
            </a:lvl5pPr>
          </a:lstStyle>
          <a:p>
            <a:pPr lvl="0" rtl="0"/>
            <a:r>
              <a:rPr lang="pt-BR"/>
              <a:t>Clique para adicionar o texto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 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5pPr>
            <a:lvl6pPr marL="1600200">
              <a:defRPr lang="pt-BR"/>
            </a:lvl6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4" rtl="0"/>
            <a:r>
              <a:rPr lang="pt-BR"/>
              <a:t>Quarto nível</a:t>
            </a:r>
          </a:p>
          <a:p>
            <a:pPr lvl="5" rtl="0"/>
            <a:r>
              <a:rPr lang="pt-BR"/>
              <a:t>Quinto nível</a:t>
            </a:r>
          </a:p>
        </p:txBody>
      </p:sp>
      <p:sp>
        <p:nvSpPr>
          <p:cNvPr id="11" name="Espaço Reservado para Conteú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pt-BR"/>
            </a:lvl1pPr>
          </a:lstStyle>
          <a:p>
            <a:pPr rtl="0"/>
            <a:r>
              <a:rPr lang="pt-BR"/>
              <a:t>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 Dois Conteúdo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 rtlCol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lang="pt-BR"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lang="pt-BR"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lang="pt-BR"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lang="pt-BR"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1" name="Espaço Reservado para Conteú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pt-BR"/>
            </a:lvl1pPr>
          </a:lstStyle>
          <a:p>
            <a:pPr rtl="0"/>
            <a:r>
              <a:rPr lang="pt-BR"/>
              <a:t>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Imagem do Tí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4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pt-BR" sz="14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 rtlCol="0"/>
          <a:lstStyle>
            <a:lvl1pPr>
              <a:spcBef>
                <a:spcPts val="0"/>
              </a:spcBef>
              <a:spcAft>
                <a:spcPts val="1200"/>
              </a:spcAft>
              <a:defRPr lang="pt-BR"/>
            </a:lvl1pPr>
            <a:lvl2pPr>
              <a:spcBef>
                <a:spcPts val="0"/>
              </a:spcBef>
              <a:spcAft>
                <a:spcPts val="600"/>
              </a:spcAft>
              <a:defRPr lang="pt-BR"/>
            </a:lvl2pPr>
            <a:lvl3pPr>
              <a:spcBef>
                <a:spcPts val="0"/>
              </a:spcBef>
              <a:spcAft>
                <a:spcPts val="600"/>
              </a:spcAft>
              <a:defRPr lang="pt-BR"/>
            </a:lvl3pPr>
            <a:lvl4pPr>
              <a:spcBef>
                <a:spcPts val="0"/>
              </a:spcBef>
              <a:spcAft>
                <a:spcPts val="600"/>
              </a:spcAft>
              <a:defRPr lang="pt-BR" sz="2000"/>
            </a:lvl4pPr>
            <a:lvl5pPr>
              <a:spcBef>
                <a:spcPts val="0"/>
              </a:spcBef>
              <a:spcAft>
                <a:spcPts val="600"/>
              </a:spcAft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11" name="Espaço Reservado para Conteú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pt-BR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pt-BR"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pt-BR"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pt-BR"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pt-BR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pt-BR"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pt-BR"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pt-BR"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pt-BR"/>
            </a:lvl1pPr>
          </a:lstStyle>
          <a:p>
            <a:pPr rtl="0"/>
            <a:r>
              <a:rPr lang="pt-BR"/>
              <a:t>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rtlCol="0" anchor="b">
            <a:normAutofit/>
          </a:bodyPr>
          <a:lstStyle>
            <a:lvl1pPr>
              <a:defRPr lang="pt-BR" sz="2800" baseline="0"/>
            </a:lvl1pPr>
          </a:lstStyle>
          <a:p>
            <a:pPr rtl="0"/>
            <a:r>
              <a:rPr lang="pt-BR"/>
              <a:t>CLIQUE PARA adicionar o TÍTULO</a:t>
            </a:r>
          </a:p>
        </p:txBody>
      </p:sp>
      <p:sp>
        <p:nvSpPr>
          <p:cNvPr id="11" name="Espaço Reservado para Conteúdo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pt-BR"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pt-BR"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pt-BR"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lang="pt-BR" sz="2000"/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lvl1pPr>
              <a:defRPr lang="pt-BR" sz="1400">
                <a:latin typeface="+mj-lt"/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 rtlCol="0"/>
          <a:lstStyle>
            <a:lvl1pPr algn="r">
              <a:defRPr lang="pt-BR"/>
            </a:lvl1pPr>
          </a:lstStyle>
          <a:p>
            <a:pPr rtl="0"/>
            <a:r>
              <a:rPr lang="pt-BR"/>
              <a:t>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rtlCol="0" anchor="b">
            <a:normAutofit/>
          </a:bodyPr>
          <a:lstStyle>
            <a:lvl1pPr>
              <a:defRPr lang="pt-BR" sz="4000" baseline="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 rtlCol="0"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pt-BR"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lang="pt-BR" sz="20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 </a:t>
            </a:r>
          </a:p>
          <a:p>
            <a:pPr lvl="3" rtl="0"/>
            <a:r>
              <a:rPr lang="pt-BR"/>
              <a:t>Quarto nível </a:t>
            </a:r>
          </a:p>
          <a:p>
            <a:pPr lvl="4" rtl="0"/>
            <a:r>
              <a:rPr lang="pt-BR"/>
              <a:t>Quinto nível </a:t>
            </a:r>
          </a:p>
          <a:p>
            <a:pPr lvl="0" rt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 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rtlCol="0" anchor="b">
            <a:normAutofit/>
          </a:bodyPr>
          <a:lstStyle>
            <a:lvl1pPr>
              <a:defRPr lang="pt-BR" sz="40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grpSp>
        <p:nvGrpSpPr>
          <p:cNvPr id="815" name="Grupo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pt-BR"/>
              </a:defPPr>
            </a:lstStyle>
            <a:p>
              <a:pPr rtl="0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t-BR" sz="1000">
                <a:solidFill>
                  <a:schemeClr val="tx1"/>
                </a:solidFill>
              </a:defRPr>
            </a:lvl1pPr>
          </a:lstStyle>
          <a:p>
            <a:pPr rtl="0"/>
            <a:r>
              <a:rPr lang="pt-BR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1000" b="1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t-B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pos="1920">
          <p15:clr>
            <a:srgbClr val="F26B43"/>
          </p15:clr>
        </p15:guide>
        <p15:guide id="3" pos="5760">
          <p15:clr>
            <a:srgbClr val="F26B43"/>
          </p15:clr>
        </p15:guide>
        <p15:guide id="4" pos="7104">
          <p15:clr>
            <a:srgbClr val="C35EA4"/>
          </p15:clr>
        </p15:guide>
        <p15:guide id="5" pos="576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Padrão do plano de fundo">
            <a:extLst>
              <a:ext uri="{FF2B5EF4-FFF2-40B4-BE49-F238E27FC236}">
                <a16:creationId xmlns:a16="http://schemas.microsoft.com/office/drawing/2014/main" id="{E2D2874E-0625-7079-F561-7690C05FF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E9814E9-81CF-6F48-1395-59594FE7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064" y="2549014"/>
            <a:ext cx="8297380" cy="1326514"/>
          </a:xfrm>
        </p:spPr>
        <p:txBody>
          <a:bodyPr>
            <a:normAutofit fontScale="90000"/>
          </a:bodyPr>
          <a:lstStyle/>
          <a:p>
            <a:pPr algn="ctr"/>
            <a:r>
              <a:rPr lang="pt-BR" sz="3200" dirty="0"/>
              <a:t>Ciência de dados – MODELAGEM AVANÇADA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D59DE8-D061-2528-02BA-17B297FD54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12736" y="3071304"/>
            <a:ext cx="7907321" cy="1326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2400" dirty="0"/>
              <a:t> </a:t>
            </a:r>
          </a:p>
          <a:p>
            <a:pPr marL="0" indent="0">
              <a:buNone/>
            </a:pPr>
            <a:r>
              <a:rPr lang="pt-BR" sz="2400" dirty="0"/>
              <a:t>Prof. Luiz Carlos R. Neduziak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BC2E8E-6F3B-DB09-2607-A25EFF83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t-BR" smtClean="0"/>
              <a:pPr rtl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6122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AGENDA (06/09)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70B4EC43-20C2-1DA5-646B-B8D26CF7D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6355" y="1607428"/>
            <a:ext cx="8324089" cy="4639194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Breve Revisão (Aula Passada).</a:t>
            </a:r>
          </a:p>
          <a:p>
            <a:pPr rtl="0"/>
            <a:r>
              <a:rPr lang="pt-BR" dirty="0"/>
              <a:t>Preparação dos Dados para Modelagem.</a:t>
            </a:r>
          </a:p>
          <a:p>
            <a:pPr rtl="0"/>
            <a:r>
              <a:rPr lang="pt-BR" dirty="0"/>
              <a:t>Redução de Dimensionalidade (seleção de atributos e análise componente principal).</a:t>
            </a:r>
          </a:p>
          <a:p>
            <a:r>
              <a:rPr lang="pt-BR" dirty="0"/>
              <a:t>Introdução ao Aprendizado de Máquina (Regressão e Classificação).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089920E1-1F47-D3FB-B5CD-7110B379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34620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9E9D3B5-405B-E174-0A2D-0A0406205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7A0189-5578-2A37-5A9E-4591237A9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61427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PROCESSO DE CIÊNCIA DE DADOS (CRISP-DM)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6A050CBF-470D-B3AC-8E54-97494B440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3</a:t>
            </a:fld>
            <a:endParaRPr lang="pt-BR" dirty="0"/>
          </a:p>
        </p:txBody>
      </p:sp>
      <p:pic>
        <p:nvPicPr>
          <p:cNvPr id="8" name="Imagem 7" descr="Diagrama&#10;&#10;O conteúdo gerado por IA pode estar incorreto.">
            <a:extLst>
              <a:ext uri="{FF2B5EF4-FFF2-40B4-BE49-F238E27FC236}">
                <a16:creationId xmlns:a16="http://schemas.microsoft.com/office/drawing/2014/main" id="{41A8D3A0-E6AD-F82E-C98D-884E6C9688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4981" y="1578454"/>
            <a:ext cx="5040775" cy="4884515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C3B3EFFF-CE6C-9405-38D1-CFCEEDD99C22}"/>
              </a:ext>
            </a:extLst>
          </p:cNvPr>
          <p:cNvSpPr/>
          <p:nvPr/>
        </p:nvSpPr>
        <p:spPr>
          <a:xfrm rot="9929036">
            <a:off x="6259629" y="2039256"/>
            <a:ext cx="1035513" cy="775120"/>
          </a:xfrm>
          <a:prstGeom prst="rightArrow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0BA8DB9-544B-9A09-95DD-89420B344E4A}"/>
              </a:ext>
            </a:extLst>
          </p:cNvPr>
          <p:cNvSpPr txBox="1"/>
          <p:nvPr/>
        </p:nvSpPr>
        <p:spPr>
          <a:xfrm>
            <a:off x="7445952" y="1726558"/>
            <a:ext cx="2012942" cy="64633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accent4">
                    <a:lumMod val="75000"/>
                  </a:schemeClr>
                </a:solidFill>
              </a:rPr>
              <a:t>APRENDEMOS a conhecer o dado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144DC3D0-53D8-E6E8-C61E-BB6B764235BB}"/>
              </a:ext>
            </a:extLst>
          </p:cNvPr>
          <p:cNvSpPr/>
          <p:nvPr/>
        </p:nvSpPr>
        <p:spPr>
          <a:xfrm rot="12409139">
            <a:off x="6794970" y="3538659"/>
            <a:ext cx="1035513" cy="775120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726C9DD-99BC-3FAC-09AC-C81EBAF088DE}"/>
              </a:ext>
            </a:extLst>
          </p:cNvPr>
          <p:cNvSpPr txBox="1"/>
          <p:nvPr/>
        </p:nvSpPr>
        <p:spPr>
          <a:xfrm>
            <a:off x="7949648" y="3812943"/>
            <a:ext cx="2417589" cy="92333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>
                    <a:lumMod val="50000"/>
                  </a:schemeClr>
                </a:solidFill>
              </a:rPr>
              <a:t>APRENDEREMOS a preparar o dado para modelagem.</a:t>
            </a:r>
          </a:p>
        </p:txBody>
      </p:sp>
    </p:spTree>
    <p:extLst>
      <p:ext uri="{BB962C8B-B14F-4D97-AF65-F5344CB8AC3E}">
        <p14:creationId xmlns:p14="http://schemas.microsoft.com/office/powerpoint/2010/main" val="934342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8E4EB9C-1287-436E-7FEE-7AC890057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91FAE8-2244-E7E6-D7FA-E8097611A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Aula passada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AA085A63-09CB-646F-E9F5-49F0C63FF0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6355" y="1607428"/>
            <a:ext cx="8324089" cy="5053764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>
              <a:lnSpc>
                <a:spcPct val="150000"/>
              </a:lnSpc>
              <a:spcAft>
                <a:spcPts val="0"/>
              </a:spcAft>
            </a:pPr>
            <a:r>
              <a:rPr lang="pt-BR" dirty="0"/>
              <a:t>(a) </a:t>
            </a:r>
            <a:r>
              <a:rPr lang="pt-BR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outliers</a:t>
            </a:r>
            <a:r>
              <a:rPr lang="pt-BR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:</a:t>
            </a:r>
            <a:r>
              <a:rPr lang="pt-BR" dirty="0"/>
              <a:t> valores extremos que podem distorcer a análise.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pt-BR" sz="1700" b="1" dirty="0"/>
              <a:t>métodos de detecção: </a:t>
            </a:r>
            <a:r>
              <a:rPr lang="pt-BR" sz="1700" dirty="0"/>
              <a:t>z-score, IQR (</a:t>
            </a:r>
            <a:r>
              <a:rPr lang="pt-BR" sz="1700" i="1" dirty="0" err="1"/>
              <a:t>Interquartile</a:t>
            </a:r>
            <a:r>
              <a:rPr lang="pt-BR" sz="1700" i="1" dirty="0"/>
              <a:t> Range) </a:t>
            </a:r>
            <a:r>
              <a:rPr lang="pt-BR" sz="1700" dirty="0"/>
              <a:t>e visualização (</a:t>
            </a:r>
            <a:r>
              <a:rPr lang="pt-BR" sz="1700" i="1" dirty="0" err="1"/>
              <a:t>boxplots</a:t>
            </a:r>
            <a:r>
              <a:rPr lang="pt-BR" sz="1700" dirty="0"/>
              <a:t>, </a:t>
            </a:r>
            <a:r>
              <a:rPr lang="pt-BR" sz="1700" i="1" dirty="0" err="1"/>
              <a:t>scatterplots</a:t>
            </a:r>
            <a:r>
              <a:rPr lang="pt-BR" sz="1700" dirty="0"/>
              <a:t>, etc.);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pt-BR" sz="1700" b="1" dirty="0"/>
              <a:t>tratamento:</a:t>
            </a:r>
            <a:r>
              <a:rPr lang="pt-BR" sz="1700" dirty="0"/>
              <a:t> remoção (se for erro de entrada de dados ou um ruído), transformação (</a:t>
            </a:r>
            <a:r>
              <a:rPr lang="pt-BR" sz="1700" i="1" dirty="0"/>
              <a:t>log </a:t>
            </a:r>
            <a:r>
              <a:rPr lang="pt-BR" sz="1700" i="1" dirty="0" err="1"/>
              <a:t>transform</a:t>
            </a:r>
            <a:r>
              <a:rPr lang="pt-BR" sz="1700" dirty="0"/>
              <a:t>, por exemplo).</a:t>
            </a:r>
            <a:endParaRPr lang="pt-BR" sz="1800" dirty="0"/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pt-BR" dirty="0"/>
              <a:t>(b) </a:t>
            </a:r>
            <a:r>
              <a:rPr lang="pt-BR" b="1" i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missing</a:t>
            </a:r>
            <a:r>
              <a:rPr lang="pt-BR" b="1" i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pt-BR" b="1" i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values</a:t>
            </a:r>
            <a:r>
              <a:rPr lang="pt-BR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: </a:t>
            </a:r>
            <a:r>
              <a:rPr lang="pt-BR" dirty="0"/>
              <a:t>valores faltantes.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pt-BR" sz="1700" b="1" dirty="0"/>
              <a:t>métodos de tratamento: </a:t>
            </a:r>
            <a:r>
              <a:rPr lang="pt-BR" sz="1700" dirty="0"/>
              <a:t>imputação estatística (média, mediana e moda), imputação por modelagem (regressão, k-</a:t>
            </a:r>
            <a:r>
              <a:rPr lang="pt-BR" sz="1700" dirty="0" err="1"/>
              <a:t>nn</a:t>
            </a:r>
            <a:r>
              <a:rPr lang="pt-BR" sz="1700" dirty="0"/>
              <a:t>, etc.), exclusão de linha ou coluna. </a:t>
            </a:r>
            <a:endParaRPr lang="pt-BR" dirty="0"/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pt-BR" dirty="0"/>
              <a:t>(c) </a:t>
            </a:r>
            <a:r>
              <a:rPr lang="pt-BR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normalização e padronização.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pt-BR" sz="1700" b="1" dirty="0"/>
              <a:t>métodos de tratamento: </a:t>
            </a:r>
            <a:r>
              <a:rPr lang="pt-BR" sz="1700" i="1" dirty="0" err="1"/>
              <a:t>scaling</a:t>
            </a:r>
            <a:r>
              <a:rPr lang="pt-BR" sz="1700" dirty="0"/>
              <a:t>, </a:t>
            </a:r>
            <a:r>
              <a:rPr lang="pt-BR" sz="1700" i="1" dirty="0" err="1"/>
              <a:t>standardization</a:t>
            </a:r>
            <a:r>
              <a:rPr lang="pt-BR" sz="1700" dirty="0"/>
              <a:t> e </a:t>
            </a:r>
            <a:r>
              <a:rPr lang="pt-BR" sz="1700" i="1" dirty="0" err="1"/>
              <a:t>normalization</a:t>
            </a:r>
            <a:r>
              <a:rPr lang="pt-BR" sz="1700" dirty="0"/>
              <a:t>.</a:t>
            </a:r>
          </a:p>
          <a:p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1F76D80C-E92E-EEBA-1005-6BD41B991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09551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Padrão do plano de fundo">
            <a:extLst>
              <a:ext uri="{FF2B5EF4-FFF2-40B4-BE49-F238E27FC236}">
                <a16:creationId xmlns:a16="http://schemas.microsoft.com/office/drawing/2014/main" id="{E2D2874E-0625-7079-F561-7690C05FF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E9814E9-81CF-6F48-1395-59594FE7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2734" y="2679642"/>
            <a:ext cx="8561748" cy="1612439"/>
          </a:xfrm>
        </p:spPr>
        <p:txBody>
          <a:bodyPr>
            <a:normAutofit/>
          </a:bodyPr>
          <a:lstStyle/>
          <a:p>
            <a:pPr algn="ctr"/>
            <a:r>
              <a:rPr lang="pt-BR" sz="3600" dirty="0"/>
              <a:t>A maldição da dimensionalidade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BC2E8E-6F3B-DB09-2607-A25EFF83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t-BR" smtClean="0"/>
              <a:pPr rtl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92606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BCC353F-19DF-B455-0A46-0130685AF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705424-2C01-CC70-240E-3AB99ACEB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A MALDIÇÃO DA DIMENSIONALIDADE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6A6B0D1-466F-10AA-609E-631D41A17F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39"/>
            <a:ext cx="9574274" cy="3973597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0" indent="0" rtl="0">
              <a:buNone/>
            </a:pPr>
            <a:r>
              <a:rPr lang="pt-BR" b="1" dirty="0">
                <a:solidFill>
                  <a:schemeClr val="accent4">
                    <a:lumMod val="75000"/>
                  </a:schemeClr>
                </a:solidFill>
              </a:rPr>
              <a:t>“É como procurar uma agulha em um palheiro que fica cada vez maior à medida que mais palha (dimensões) é adicionada, tornando a tarefa de procurar uma agulha cada vez mais difícil e ineficiente.”</a:t>
            </a:r>
          </a:p>
          <a:p>
            <a:pPr marL="0" indent="0" rtl="0">
              <a:buNone/>
            </a:pPr>
            <a:endParaRPr lang="pt-BR" dirty="0"/>
          </a:p>
          <a:p>
            <a:pPr rtl="0"/>
            <a:endParaRPr lang="pt-BR" dirty="0"/>
          </a:p>
          <a:p>
            <a:pPr rtl="0"/>
            <a:endParaRPr lang="pt-BR" i="1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52127A2E-6979-F711-9507-7460FC683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6</a:t>
            </a:fld>
            <a:endParaRPr lang="pt-BR" dirty="0"/>
          </a:p>
        </p:txBody>
      </p:sp>
      <p:pic>
        <p:nvPicPr>
          <p:cNvPr id="6" name="Imagem 5" descr="Gato deitado ao lado de janela&#10;&#10;Descrição gerada automaticamente com confiança média">
            <a:extLst>
              <a:ext uri="{FF2B5EF4-FFF2-40B4-BE49-F238E27FC236}">
                <a16:creationId xmlns:a16="http://schemas.microsoft.com/office/drawing/2014/main" id="{BA006E12-2148-6D05-ACDA-8F0979826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815" y="3199066"/>
            <a:ext cx="5157885" cy="294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000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A MALDIÇÃO DA DIMENSIONALIDADE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38"/>
            <a:ext cx="8324089" cy="4842889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dirty="0"/>
              <a:t>Muitos problemas que podem ser tratados por técnicas de ML apresentam um número bastante elevado de atributos.</a:t>
            </a:r>
          </a:p>
          <a:p>
            <a:r>
              <a:rPr lang="pt-BR" dirty="0"/>
              <a:t>Por exemplo, aplicações de </a:t>
            </a:r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reconhecimento de imagens </a:t>
            </a:r>
            <a:r>
              <a:rPr lang="pt-BR" dirty="0"/>
              <a:t>e </a:t>
            </a:r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dados de expressão gênica</a:t>
            </a:r>
            <a:r>
              <a:rPr lang="pt-BR" dirty="0"/>
              <a:t>.</a:t>
            </a:r>
          </a:p>
          <a:p>
            <a:r>
              <a:rPr lang="pt-BR" dirty="0"/>
              <a:t>Algumas das dificuldades do número muito grande de atributos em algoritmos de ML são provenientes do problema da </a:t>
            </a:r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maldição da dimensionalidade</a:t>
            </a:r>
            <a:r>
              <a:rPr lang="pt-BR" dirty="0"/>
              <a:t>.</a:t>
            </a:r>
          </a:p>
          <a:p>
            <a:r>
              <a:rPr lang="pt-BR" dirty="0"/>
              <a:t>Em muitos algoritmos de ML, para que dados com um número elevado de atributos possam ser utilizados, a </a:t>
            </a:r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quantidade de atributos precisa ser reduzida</a:t>
            </a:r>
            <a:r>
              <a:rPr lang="pt-BR" dirty="0"/>
              <a:t>, visando à </a:t>
            </a:r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melhora do desempenho </a:t>
            </a:r>
            <a:r>
              <a:rPr lang="pt-BR" dirty="0"/>
              <a:t>e à </a:t>
            </a:r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redução do custo computacional</a:t>
            </a:r>
            <a:r>
              <a:rPr lang="pt-BR" dirty="0"/>
              <a:t>.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7</a:t>
            </a:fld>
            <a:endParaRPr lang="pt-BR" dirty="0"/>
          </a:p>
        </p:txBody>
      </p:sp>
      <p:pic>
        <p:nvPicPr>
          <p:cNvPr id="9" name="Imagem 8" descr="Logotipo&#10;&#10;O conteúdo gerado por IA pode estar incorreto.">
            <a:extLst>
              <a:ext uri="{FF2B5EF4-FFF2-40B4-BE49-F238E27FC236}">
                <a16:creationId xmlns:a16="http://schemas.microsoft.com/office/drawing/2014/main" id="{31FE2742-A852-5F41-029B-C6D8E05B1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2756" y="2072638"/>
            <a:ext cx="352425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250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A MALDIÇÃO DA DIMENSIONALIDADE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39"/>
            <a:ext cx="9077712" cy="4365483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Cada coluna em uma tabela representa uma dimensão e cada linha representa um ponto de dado (instância) em um </a:t>
            </a:r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espaço multidimensional</a:t>
            </a:r>
            <a:r>
              <a:rPr lang="pt-BR" dirty="0"/>
              <a:t>.</a:t>
            </a:r>
          </a:p>
          <a:p>
            <a:pPr rtl="0"/>
            <a:r>
              <a:rPr lang="pt-BR" dirty="0"/>
              <a:t>Quando o número de características (colunas ou dimensões) em um conjunto de dados é muito alto em relação ao número de observações (linhas), surge o problema da </a:t>
            </a:r>
            <a:r>
              <a:rPr lang="pt-BR" b="1" dirty="0">
                <a:solidFill>
                  <a:srgbClr val="FF0000"/>
                </a:solidFill>
              </a:rPr>
              <a:t>maldição da dimensionalidade</a:t>
            </a:r>
            <a:r>
              <a:rPr lang="pt-BR" dirty="0"/>
              <a:t>.</a:t>
            </a:r>
          </a:p>
          <a:p>
            <a:pPr rtl="0"/>
            <a:r>
              <a:rPr lang="pt-BR" dirty="0"/>
              <a:t>Nesse contexto, métodos de análise e modelagem de dados se tornam ineficazes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b="1" dirty="0">
                <a:solidFill>
                  <a:srgbClr val="FF0000"/>
                </a:solidFill>
                <a:sym typeface="Wingdings" panose="05000000000000000000" pitchFamily="2" charset="2"/>
              </a:rPr>
              <a:t>problemas esparsos</a:t>
            </a:r>
            <a:r>
              <a:rPr lang="pt-BR" dirty="0">
                <a:sym typeface="Wingdings" panose="05000000000000000000" pitchFamily="2" charset="2"/>
              </a:rPr>
              <a:t>. </a:t>
            </a:r>
          </a:p>
          <a:p>
            <a:pPr rtl="0"/>
            <a:r>
              <a:rPr lang="pt-BR" dirty="0">
                <a:sym typeface="Wingdings" panose="05000000000000000000" pitchFamily="2" charset="2"/>
              </a:rPr>
              <a:t>É necessário que se faça a </a:t>
            </a:r>
            <a:r>
              <a:rPr lang="pt-BR" u="sng" dirty="0">
                <a:sym typeface="Wingdings" panose="05000000000000000000" pitchFamily="2" charset="2"/>
              </a:rPr>
              <a:t>seleção dos atributos</a:t>
            </a:r>
            <a:r>
              <a:rPr lang="pt-BR" dirty="0">
                <a:sym typeface="Wingdings" panose="05000000000000000000" pitchFamily="2" charset="2"/>
              </a:rPr>
              <a:t> relevantes ou que se proceda à </a:t>
            </a:r>
            <a:r>
              <a:rPr lang="pt-BR" u="sng" dirty="0">
                <a:sym typeface="Wingdings" panose="05000000000000000000" pitchFamily="2" charset="2"/>
              </a:rPr>
              <a:t>redução da dimensionalidade</a:t>
            </a:r>
            <a:r>
              <a:rPr lang="pt-BR" dirty="0">
                <a:sym typeface="Wingdings" panose="05000000000000000000" pitchFamily="2" charset="2"/>
              </a:rPr>
              <a:t> (</a:t>
            </a:r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agregação</a:t>
            </a:r>
            <a:r>
              <a:rPr lang="pt-BR" dirty="0">
                <a:sym typeface="Wingdings" panose="05000000000000000000" pitchFamily="2" charset="2"/>
              </a:rPr>
              <a:t>).  redução do espaço de características.</a:t>
            </a:r>
            <a:endParaRPr lang="pt-BR" dirty="0"/>
          </a:p>
          <a:p>
            <a:pPr marL="0" indent="0" rtl="0">
              <a:buNone/>
            </a:pPr>
            <a:endParaRPr lang="pt-BR" dirty="0"/>
          </a:p>
          <a:p>
            <a:pPr rtl="0"/>
            <a:endParaRPr lang="pt-BR" dirty="0"/>
          </a:p>
          <a:p>
            <a:pPr rtl="0"/>
            <a:endParaRPr lang="pt-BR" i="1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8</a:t>
            </a:fld>
            <a:endParaRPr lang="pt-BR" dirty="0"/>
          </a:p>
        </p:txBody>
      </p:sp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E2C9B250-7F66-F750-EF84-383C8071D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2756" y="2072638"/>
            <a:ext cx="352425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516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2657D11-2BB4-C7B1-8544-A235465B3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0B462B-8DB4-1C62-4870-335E2B8AD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A MALDIÇÃO DA DIMENSIONALIDADE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0DBDE7F-766C-BA39-2FD8-B10A4F13F3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39"/>
            <a:ext cx="9077712" cy="4365483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dirty="0"/>
              <a:t>Diferentes técnicas podem ser utilizadas para a redução do número de atributos. Essas técnicas podem ser divididas em duas grandes abordagens:</a:t>
            </a:r>
          </a:p>
          <a:p>
            <a:pPr lvl="2"/>
            <a:r>
              <a:rPr lang="pt-BR" sz="1800" dirty="0"/>
              <a:t>Seleção de Atributos.</a:t>
            </a:r>
          </a:p>
          <a:p>
            <a:pPr lvl="2"/>
            <a:r>
              <a:rPr lang="pt-BR" sz="1800" dirty="0"/>
              <a:t>Agregação;</a:t>
            </a:r>
          </a:p>
          <a:p>
            <a:pPr rtl="0"/>
            <a:endParaRPr lang="pt-BR" i="1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80285594-E856-70E1-23BF-2F104FD2B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9</a:t>
            </a:fld>
            <a:endParaRPr lang="pt-BR" dirty="0"/>
          </a:p>
        </p:txBody>
      </p:sp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F10CF450-0165-600F-0848-1640F1815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2756" y="2072638"/>
            <a:ext cx="352425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67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Padrão do plano de fundo">
            <a:extLst>
              <a:ext uri="{FF2B5EF4-FFF2-40B4-BE49-F238E27FC236}">
                <a16:creationId xmlns:a16="http://schemas.microsoft.com/office/drawing/2014/main" id="{E2D2874E-0625-7079-F561-7690C05FF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E9814E9-81CF-6F48-1395-59594FE7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2734" y="2679643"/>
            <a:ext cx="8297380" cy="1326514"/>
          </a:xfrm>
        </p:spPr>
        <p:txBody>
          <a:bodyPr>
            <a:normAutofit/>
          </a:bodyPr>
          <a:lstStyle/>
          <a:p>
            <a:pPr algn="ctr"/>
            <a:r>
              <a:rPr lang="pt-BR" sz="3600" dirty="0"/>
              <a:t>Seleção de atributos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BC2E8E-6F3B-DB09-2607-A25EFF83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t-BR" smtClean="0"/>
              <a:pPr rtl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99009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11</a:t>
            </a:fld>
            <a:endParaRPr lang="pt-BR" dirty="0"/>
          </a:p>
        </p:txBody>
      </p:sp>
      <p:pic>
        <p:nvPicPr>
          <p:cNvPr id="5" name="Imagem 4" descr="Diagrama&#10;&#10;Descrição gerada automaticamente com confiança média">
            <a:extLst>
              <a:ext uri="{FF2B5EF4-FFF2-40B4-BE49-F238E27FC236}">
                <a16:creationId xmlns:a16="http://schemas.microsoft.com/office/drawing/2014/main" id="{716F6E96-0719-FA1C-CE4B-177D8B4A44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5822" y="1020871"/>
            <a:ext cx="6180356" cy="481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944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Seleção de atributos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39"/>
            <a:ext cx="8460038" cy="4606720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dirty="0"/>
              <a:t>Conforme visto na aula passada, alguns atributos são, nitidamente, </a:t>
            </a:r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redundantes</a:t>
            </a:r>
            <a:r>
              <a:rPr lang="pt-BR" dirty="0"/>
              <a:t> ou </a:t>
            </a:r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irrelevantes</a:t>
            </a:r>
            <a:r>
              <a:rPr lang="pt-BR" dirty="0"/>
              <a:t>, podendo ser, </a:t>
            </a:r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manualmente</a:t>
            </a:r>
            <a:r>
              <a:rPr lang="pt-BR" dirty="0"/>
              <a:t>, eliminados.</a:t>
            </a:r>
          </a:p>
          <a:p>
            <a:r>
              <a:rPr lang="pt-BR" dirty="0"/>
              <a:t>Entretanto, na prática, muitos atributos não são facilmente identificados, o que torna o uso de técnicas visuais </a:t>
            </a:r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ineficiente</a:t>
            </a:r>
            <a:r>
              <a:rPr lang="pt-BR" dirty="0"/>
              <a:t>, pois:</a:t>
            </a:r>
          </a:p>
          <a:p>
            <a:pPr lvl="2"/>
            <a:r>
              <a:rPr lang="pt-BR" sz="1800" dirty="0"/>
              <a:t>Há um número muito grande de exemplos.</a:t>
            </a:r>
          </a:p>
          <a:p>
            <a:pPr lvl="2"/>
            <a:r>
              <a:rPr lang="pt-BR" sz="1800" dirty="0"/>
              <a:t>Há um número muito grande de atributos.</a:t>
            </a:r>
          </a:p>
          <a:p>
            <a:pPr lvl="2"/>
            <a:r>
              <a:rPr lang="pt-BR" sz="1800" dirty="0"/>
              <a:t>Intrincada relação entre atributos.</a:t>
            </a:r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12</a:t>
            </a:fld>
            <a:endParaRPr lang="pt-BR" dirty="0"/>
          </a:p>
        </p:txBody>
      </p:sp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A86BBD4B-1C6E-78A0-8CFE-31307364C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2756" y="2072638"/>
            <a:ext cx="352425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70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8135588-9677-401A-1DE0-CB9422176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4E128-50DA-96C1-EE58-90E84F845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Seleção de atributos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2B638A8-93A9-E679-E5E5-D4AC982F2D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39"/>
            <a:ext cx="8460038" cy="4606720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dirty="0"/>
              <a:t>Em termos gerais, as </a:t>
            </a:r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técnicas de seleção de atributos </a:t>
            </a:r>
            <a:r>
              <a:rPr lang="pt-BR" dirty="0"/>
              <a:t>procuram por um </a:t>
            </a:r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subconjunto</a:t>
            </a:r>
            <a:r>
              <a:rPr lang="pt-BR" dirty="0"/>
              <a:t> ótimo de atributos de acordo com algum critério.</a:t>
            </a:r>
          </a:p>
          <a:p>
            <a:pPr rtl="0"/>
            <a:endParaRPr lang="pt-BR" dirty="0"/>
          </a:p>
          <a:p>
            <a:pPr rtl="0"/>
            <a:endParaRPr lang="pt-BR" i="1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0CE06704-2101-34CB-04DC-25F45CBA6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13</a:t>
            </a:fld>
            <a:endParaRPr lang="pt-BR" dirty="0"/>
          </a:p>
        </p:txBody>
      </p:sp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9A2B2B2A-32C5-4B39-3802-BC24EA2E1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2756" y="2072638"/>
            <a:ext cx="352425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406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E1F8FB1-B8F5-B505-6F93-19C2E0F4B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81B209-D413-32C9-8B8F-69729AFCE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Seleção de atributos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7138F6AF-5F2F-F808-50B0-8076CCE2A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14</a:t>
            </a:fld>
            <a:endParaRPr lang="pt-BR" dirty="0"/>
          </a:p>
        </p:txBody>
      </p:sp>
      <p:pic>
        <p:nvPicPr>
          <p:cNvPr id="11" name="Imagem 10" descr="Diagrama&#10;&#10;O conteúdo gerado por IA pode estar incorreto.">
            <a:extLst>
              <a:ext uri="{FF2B5EF4-FFF2-40B4-BE49-F238E27FC236}">
                <a16:creationId xmlns:a16="http://schemas.microsoft.com/office/drawing/2014/main" id="{0C182137-719C-DDED-E97A-D74D49CCB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9083" y="1518613"/>
            <a:ext cx="6912642" cy="460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585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3" y="72518"/>
            <a:ext cx="9183998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Abordagens para a seleção de atributos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39"/>
            <a:ext cx="8324089" cy="3973597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b="1" dirty="0"/>
              <a:t>Filtros</a:t>
            </a:r>
            <a:r>
              <a:rPr lang="pt-BR" dirty="0"/>
              <a:t>: </a:t>
            </a:r>
            <a:r>
              <a:rPr lang="pt-BR" u="sng" dirty="0"/>
              <a:t>métodos de filtro </a:t>
            </a:r>
            <a:r>
              <a:rPr lang="pt-BR" dirty="0"/>
              <a:t>avaliam a relevância das características de forma independente do modelo preditivo. Por exemplo: </a:t>
            </a:r>
            <a:r>
              <a:rPr lang="pt-BR" b="1" i="1" dirty="0" err="1">
                <a:solidFill>
                  <a:srgbClr val="FF0000"/>
                </a:solidFill>
              </a:rPr>
              <a:t>SelectKBest</a:t>
            </a:r>
            <a:r>
              <a:rPr lang="pt-BR" dirty="0"/>
              <a:t>, </a:t>
            </a:r>
            <a:r>
              <a:rPr lang="pt-BR" i="1" dirty="0" err="1"/>
              <a:t>VarianceThreshold</a:t>
            </a:r>
            <a:r>
              <a:rPr lang="pt-BR" dirty="0"/>
              <a:t> e </a:t>
            </a:r>
            <a:r>
              <a:rPr lang="pt-BR" i="1" dirty="0" err="1"/>
              <a:t>SelectPercentile</a:t>
            </a:r>
            <a:r>
              <a:rPr lang="pt-BR" dirty="0"/>
              <a:t>.</a:t>
            </a:r>
          </a:p>
          <a:p>
            <a:r>
              <a:rPr lang="pt-BR" b="1" dirty="0"/>
              <a:t>Embutidos (</a:t>
            </a:r>
            <a:r>
              <a:rPr lang="pt-BR" b="1" i="1" dirty="0" err="1"/>
              <a:t>Embedded</a:t>
            </a:r>
            <a:r>
              <a:rPr lang="pt-BR" b="1" i="1" dirty="0"/>
              <a:t> </a:t>
            </a:r>
            <a:r>
              <a:rPr lang="pt-BR" b="1" i="1" dirty="0" err="1"/>
              <a:t>Methods</a:t>
            </a:r>
            <a:r>
              <a:rPr lang="pt-BR" b="1" dirty="0"/>
              <a:t>)</a:t>
            </a:r>
            <a:r>
              <a:rPr lang="pt-BR" dirty="0"/>
              <a:t>: Métodos embutidos realizam a seleção de características durante o processo de treinamento do modelo. Por exemplo: </a:t>
            </a:r>
            <a:r>
              <a:rPr lang="pt-BR" b="1" i="1" dirty="0" err="1">
                <a:solidFill>
                  <a:srgbClr val="FF0000"/>
                </a:solidFill>
              </a:rPr>
              <a:t>Decision</a:t>
            </a:r>
            <a:r>
              <a:rPr lang="pt-BR" b="1" i="1" dirty="0">
                <a:solidFill>
                  <a:srgbClr val="FF0000"/>
                </a:solidFill>
              </a:rPr>
              <a:t> </a:t>
            </a:r>
            <a:r>
              <a:rPr lang="pt-BR" b="1" i="1" dirty="0" err="1">
                <a:solidFill>
                  <a:srgbClr val="FF0000"/>
                </a:solidFill>
              </a:rPr>
              <a:t>Tree</a:t>
            </a:r>
            <a:r>
              <a:rPr lang="pt-BR" i="1" dirty="0"/>
              <a:t> </a:t>
            </a:r>
            <a:r>
              <a:rPr lang="pt-BR" dirty="0"/>
              <a:t>e </a:t>
            </a:r>
            <a:r>
              <a:rPr lang="pt-BR" i="1" dirty="0"/>
              <a:t>Random Forest</a:t>
            </a:r>
            <a:r>
              <a:rPr lang="pt-BR" dirty="0"/>
              <a:t>.</a:t>
            </a:r>
          </a:p>
          <a:p>
            <a:pPr rtl="0"/>
            <a:r>
              <a:rPr lang="pt-BR" b="1" i="1" dirty="0" err="1"/>
              <a:t>Wrappers</a:t>
            </a:r>
            <a:r>
              <a:rPr lang="pt-BR" dirty="0"/>
              <a:t>: Métodos de </a:t>
            </a:r>
            <a:r>
              <a:rPr lang="pt-BR" i="1" dirty="0" err="1"/>
              <a:t>wrapper</a:t>
            </a:r>
            <a:r>
              <a:rPr lang="pt-BR" dirty="0"/>
              <a:t> avaliam subconjuntos de características utilizando um modelo preditivo. Por exemplo: </a:t>
            </a:r>
            <a:r>
              <a:rPr lang="pt-BR" b="1" dirty="0">
                <a:solidFill>
                  <a:srgbClr val="FF0000"/>
                </a:solidFill>
              </a:rPr>
              <a:t>RFECC</a:t>
            </a:r>
            <a:r>
              <a:rPr lang="pt-BR" dirty="0"/>
              <a:t> </a:t>
            </a:r>
            <a:r>
              <a:rPr lang="pt-BR" b="1" dirty="0">
                <a:solidFill>
                  <a:srgbClr val="FF0000"/>
                </a:solidFill>
              </a:rPr>
              <a:t>(</a:t>
            </a:r>
            <a:r>
              <a:rPr lang="pt-BR" b="1" i="1" dirty="0" err="1">
                <a:solidFill>
                  <a:srgbClr val="FF0000"/>
                </a:solidFill>
              </a:rPr>
              <a:t>Recursive</a:t>
            </a:r>
            <a:r>
              <a:rPr lang="pt-BR" b="1" i="1" dirty="0">
                <a:solidFill>
                  <a:srgbClr val="FF0000"/>
                </a:solidFill>
              </a:rPr>
              <a:t> Feature </a:t>
            </a:r>
            <a:r>
              <a:rPr lang="pt-BR" b="1" i="1" dirty="0" err="1">
                <a:solidFill>
                  <a:srgbClr val="FF0000"/>
                </a:solidFill>
              </a:rPr>
              <a:t>Elimination</a:t>
            </a:r>
            <a:r>
              <a:rPr lang="pt-BR" b="1" i="1" dirty="0">
                <a:solidFill>
                  <a:srgbClr val="FF0000"/>
                </a:solidFill>
              </a:rPr>
              <a:t> Cross-</a:t>
            </a:r>
            <a:r>
              <a:rPr lang="pt-BR" b="1" i="1" dirty="0" err="1">
                <a:solidFill>
                  <a:srgbClr val="FF0000"/>
                </a:solidFill>
              </a:rPr>
              <a:t>Validation</a:t>
            </a:r>
            <a:r>
              <a:rPr lang="pt-BR" b="1" dirty="0">
                <a:solidFill>
                  <a:srgbClr val="FF0000"/>
                </a:solidFill>
              </a:rPr>
              <a:t>)</a:t>
            </a:r>
            <a:r>
              <a:rPr lang="pt-BR" dirty="0"/>
              <a:t>.</a:t>
            </a:r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marL="0" indent="0" rtl="0">
              <a:buNone/>
            </a:pPr>
            <a:endParaRPr lang="pt-BR" dirty="0"/>
          </a:p>
          <a:p>
            <a:pPr rtl="0"/>
            <a:endParaRPr lang="pt-BR" dirty="0"/>
          </a:p>
          <a:p>
            <a:pPr rtl="0"/>
            <a:endParaRPr lang="pt-BR" i="1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15</a:t>
            </a:fld>
            <a:endParaRPr lang="pt-BR" dirty="0"/>
          </a:p>
        </p:txBody>
      </p:sp>
      <p:pic>
        <p:nvPicPr>
          <p:cNvPr id="5" name="Imagem 4" descr="Logotipo&#10;&#10;O conteúdo gerado por IA pode estar incorreto.">
            <a:extLst>
              <a:ext uri="{FF2B5EF4-FFF2-40B4-BE49-F238E27FC236}">
                <a16:creationId xmlns:a16="http://schemas.microsoft.com/office/drawing/2014/main" id="{09585167-6C13-4346-7C1A-7EA2387B4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2756" y="2072638"/>
            <a:ext cx="352425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1952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3" y="72518"/>
            <a:ext cx="9183998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Filtro </a:t>
            </a:r>
            <a:r>
              <a:rPr lang="pt-BR" dirty="0" err="1"/>
              <a:t>s</a:t>
            </a:r>
            <a:r>
              <a:rPr lang="pt-BR" cap="none" dirty="0" err="1"/>
              <a:t>elect</a:t>
            </a:r>
            <a:r>
              <a:rPr lang="pt-BR" dirty="0" err="1"/>
              <a:t>kb</a:t>
            </a:r>
            <a:r>
              <a:rPr lang="pt-BR" cap="none" dirty="0" err="1"/>
              <a:t>est</a:t>
            </a:r>
            <a:endParaRPr lang="pt-BR" cap="none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39"/>
            <a:ext cx="8324089" cy="3973597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O </a:t>
            </a:r>
            <a:r>
              <a:rPr lang="pt-BR" b="1" i="1" dirty="0" err="1">
                <a:solidFill>
                  <a:srgbClr val="FF0000"/>
                </a:solidFill>
              </a:rPr>
              <a:t>SelectKBest</a:t>
            </a:r>
            <a:r>
              <a:rPr lang="pt-BR" dirty="0"/>
              <a:t> seleciona as k melhores características com base em uma função de pontuação estatística (</a:t>
            </a:r>
            <a:r>
              <a:rPr lang="pt-BR" i="1" dirty="0"/>
              <a:t>score</a:t>
            </a:r>
            <a:r>
              <a:rPr lang="pt-BR" dirty="0"/>
              <a:t>).</a:t>
            </a:r>
          </a:p>
          <a:p>
            <a:pPr rtl="0"/>
            <a:r>
              <a:rPr lang="pt-BR" dirty="0"/>
              <a:t>O </a:t>
            </a:r>
            <a:r>
              <a:rPr lang="pt-BR" b="1" i="1" dirty="0" err="1">
                <a:solidFill>
                  <a:srgbClr val="FF0000"/>
                </a:solidFill>
              </a:rPr>
              <a:t>SelectKBest</a:t>
            </a:r>
            <a:r>
              <a:rPr lang="pt-BR" dirty="0"/>
              <a:t> avalia cada característica individualmente em relação à variável alvo (</a:t>
            </a:r>
            <a:r>
              <a:rPr lang="pt-BR" i="1" dirty="0" err="1"/>
              <a:t>label</a:t>
            </a:r>
            <a:r>
              <a:rPr lang="pt-BR" dirty="0"/>
              <a:t>) e seleciona aquelas com as melhores pontuações (</a:t>
            </a:r>
            <a:r>
              <a:rPr lang="pt-BR" i="1" dirty="0"/>
              <a:t>scores</a:t>
            </a:r>
            <a:r>
              <a:rPr lang="pt-BR" dirty="0"/>
              <a:t>).</a:t>
            </a:r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marL="0" indent="0" rtl="0">
              <a:buNone/>
            </a:pPr>
            <a:endParaRPr lang="pt-BR" dirty="0"/>
          </a:p>
          <a:p>
            <a:pPr rtl="0"/>
            <a:endParaRPr lang="pt-BR" dirty="0"/>
          </a:p>
          <a:p>
            <a:pPr rtl="0"/>
            <a:endParaRPr lang="pt-BR" i="1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699100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3" y="72518"/>
            <a:ext cx="9753166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i="1" dirty="0"/>
              <a:t>WRAPPER RFE (</a:t>
            </a:r>
            <a:r>
              <a:rPr lang="pt-BR" i="1" dirty="0" err="1"/>
              <a:t>Recursive</a:t>
            </a:r>
            <a:r>
              <a:rPr lang="pt-BR" i="1" dirty="0"/>
              <a:t> Feature </a:t>
            </a:r>
            <a:r>
              <a:rPr lang="pt-BR" i="1" dirty="0" err="1"/>
              <a:t>Elimination</a:t>
            </a:r>
            <a:r>
              <a:rPr lang="pt-BR" i="1" dirty="0"/>
              <a:t>)</a:t>
            </a:r>
            <a:endParaRPr lang="pt-BR" i="1" cap="none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39"/>
            <a:ext cx="8324089" cy="3973597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O RFE (</a:t>
            </a:r>
            <a:r>
              <a:rPr lang="pt-BR" i="1" dirty="0" err="1"/>
              <a:t>Recursive</a:t>
            </a:r>
            <a:r>
              <a:rPr lang="pt-BR" i="1" dirty="0"/>
              <a:t> Feature </a:t>
            </a:r>
            <a:r>
              <a:rPr lang="pt-BR" i="1" dirty="0" err="1"/>
              <a:t>Elimination</a:t>
            </a:r>
            <a:r>
              <a:rPr lang="pt-BR" dirty="0"/>
              <a:t>) é um algoritmo de seleção de características que funciona de maneira iterativa para selecionar o subconjunto de características mais relevantes para um modelo preditivo. </a:t>
            </a:r>
          </a:p>
          <a:p>
            <a:pPr rtl="0"/>
            <a:r>
              <a:rPr lang="pt-BR" dirty="0"/>
              <a:t>O RFE treina o modelo várias vezes, eliminando as características menos importantes a cada iteração até que o número desejado de características seja atingido. </a:t>
            </a:r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marL="0" indent="0" rtl="0">
              <a:buNone/>
            </a:pPr>
            <a:endParaRPr lang="pt-BR" dirty="0"/>
          </a:p>
          <a:p>
            <a:pPr rtl="0"/>
            <a:endParaRPr lang="pt-BR" dirty="0"/>
          </a:p>
          <a:p>
            <a:pPr rtl="0"/>
            <a:endParaRPr lang="pt-BR" i="1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17</a:t>
            </a:fld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440D311-1A50-C2DD-256B-B76EC6C7F994}"/>
              </a:ext>
            </a:extLst>
          </p:cNvPr>
          <p:cNvSpPr/>
          <p:nvPr/>
        </p:nvSpPr>
        <p:spPr>
          <a:xfrm>
            <a:off x="1048826" y="4665306"/>
            <a:ext cx="1690397" cy="129695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2">
                    <a:lumMod val="50000"/>
                  </a:schemeClr>
                </a:solidFill>
              </a:rPr>
              <a:t>Conjunto de dados com todas as características</a:t>
            </a: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F73BDAFB-B8B7-A698-3F96-9AE025BA9A54}"/>
              </a:ext>
            </a:extLst>
          </p:cNvPr>
          <p:cNvSpPr/>
          <p:nvPr/>
        </p:nvSpPr>
        <p:spPr>
          <a:xfrm>
            <a:off x="2869663" y="5071466"/>
            <a:ext cx="400875" cy="484632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C809E9E-4E73-5390-F65B-C4708F1AFF00}"/>
              </a:ext>
            </a:extLst>
          </p:cNvPr>
          <p:cNvSpPr/>
          <p:nvPr/>
        </p:nvSpPr>
        <p:spPr>
          <a:xfrm>
            <a:off x="3397241" y="4665307"/>
            <a:ext cx="1690397" cy="12969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2">
                    <a:lumMod val="50000"/>
                  </a:schemeClr>
                </a:solidFill>
              </a:rPr>
              <a:t>Cria um subconjunto de características</a:t>
            </a: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EA999920-15EF-F2A1-7B63-E3BB1FC7ED9B}"/>
              </a:ext>
            </a:extLst>
          </p:cNvPr>
          <p:cNvSpPr/>
          <p:nvPr/>
        </p:nvSpPr>
        <p:spPr>
          <a:xfrm>
            <a:off x="5175630" y="5068120"/>
            <a:ext cx="408091" cy="484632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4EA2967-958A-9DD2-17F9-09931449A0FE}"/>
              </a:ext>
            </a:extLst>
          </p:cNvPr>
          <p:cNvSpPr/>
          <p:nvPr/>
        </p:nvSpPr>
        <p:spPr>
          <a:xfrm>
            <a:off x="5671713" y="4665307"/>
            <a:ext cx="1548366" cy="129695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2">
                    <a:lumMod val="50000"/>
                  </a:schemeClr>
                </a:solidFill>
              </a:rPr>
              <a:t>Treina e testa o Classificador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93ADAEB-6157-9D75-6684-2D92D409A0ED}"/>
              </a:ext>
            </a:extLst>
          </p:cNvPr>
          <p:cNvSpPr/>
          <p:nvPr/>
        </p:nvSpPr>
        <p:spPr>
          <a:xfrm>
            <a:off x="7804154" y="4665306"/>
            <a:ext cx="1604613" cy="1290261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2">
                    <a:lumMod val="50000"/>
                  </a:schemeClr>
                </a:solidFill>
              </a:rPr>
              <a:t>Subconjunto de dados selecionado</a:t>
            </a:r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E76EFDA0-19B9-3BF2-CA7E-9E171D7E088B}"/>
              </a:ext>
            </a:extLst>
          </p:cNvPr>
          <p:cNvSpPr/>
          <p:nvPr/>
        </p:nvSpPr>
        <p:spPr>
          <a:xfrm>
            <a:off x="7308071" y="5068120"/>
            <a:ext cx="408091" cy="484632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Seta: Curva para Baixo 11">
            <a:extLst>
              <a:ext uri="{FF2B5EF4-FFF2-40B4-BE49-F238E27FC236}">
                <a16:creationId xmlns:a16="http://schemas.microsoft.com/office/drawing/2014/main" id="{2456515A-99AE-2DAF-2EF2-7D0B6271733E}"/>
              </a:ext>
            </a:extLst>
          </p:cNvPr>
          <p:cNvSpPr/>
          <p:nvPr/>
        </p:nvSpPr>
        <p:spPr>
          <a:xfrm rot="10800000">
            <a:off x="4152121" y="5995888"/>
            <a:ext cx="2294223" cy="439860"/>
          </a:xfrm>
          <a:prstGeom prst="curvedDownArrow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8C53C78-0554-3593-1EB2-066DE7EAD637}"/>
              </a:ext>
            </a:extLst>
          </p:cNvPr>
          <p:cNvSpPr/>
          <p:nvPr/>
        </p:nvSpPr>
        <p:spPr>
          <a:xfrm>
            <a:off x="4966164" y="6021058"/>
            <a:ext cx="800622" cy="32553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bg2">
                    <a:lumMod val="50000"/>
                  </a:schemeClr>
                </a:solidFill>
              </a:rPr>
              <a:t>loop</a:t>
            </a:r>
          </a:p>
        </p:txBody>
      </p:sp>
    </p:spTree>
    <p:extLst>
      <p:ext uri="{BB962C8B-B14F-4D97-AF65-F5344CB8AC3E}">
        <p14:creationId xmlns:p14="http://schemas.microsoft.com/office/powerpoint/2010/main" val="4274864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3" y="72518"/>
            <a:ext cx="9183998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NAVALHA DE </a:t>
            </a:r>
            <a:r>
              <a:rPr lang="pt-BR" dirty="0" err="1"/>
              <a:t>OcKHAM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39"/>
            <a:ext cx="8324089" cy="3973597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Princípio da Parcimônia </a:t>
            </a:r>
            <a:r>
              <a:rPr lang="pt-BR" dirty="0"/>
              <a:t>ou Princípio da Economia.</a:t>
            </a:r>
          </a:p>
          <a:p>
            <a:pPr rtl="0"/>
            <a:r>
              <a:rPr lang="pt-BR" dirty="0"/>
              <a:t>Conceito que enfatiza a simplicidade ao formular explicações e teorias. </a:t>
            </a:r>
          </a:p>
          <a:p>
            <a:pPr marL="571500" lvl="1" indent="0">
              <a:buNone/>
            </a:pPr>
            <a:r>
              <a:rPr lang="pt-BR" b="1" dirty="0">
                <a:solidFill>
                  <a:schemeClr val="bg1"/>
                </a:solidFill>
                <a:highlight>
                  <a:srgbClr val="808080"/>
                </a:highlight>
              </a:rPr>
              <a:t>“Se duas explicações (modelos) são igualmente eficazes para explicar os mesmos dados, a explicação mais simples (ou a que faz menos suposições) tende a ser a melhor.” </a:t>
            </a:r>
          </a:p>
          <a:p>
            <a:pPr rtl="0"/>
            <a:endParaRPr lang="pt-BR" dirty="0"/>
          </a:p>
          <a:p>
            <a:pPr marL="0" indent="0" rtl="0">
              <a:buNone/>
            </a:pPr>
            <a:endParaRPr lang="pt-BR" dirty="0"/>
          </a:p>
          <a:p>
            <a:pPr rtl="0"/>
            <a:endParaRPr lang="pt-BR" dirty="0"/>
          </a:p>
          <a:p>
            <a:pPr rtl="0"/>
            <a:endParaRPr lang="pt-BR" i="1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9208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SELEÇÃO DE ATRIBUTOS - HANDS-ON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Google </a:t>
            </a:r>
            <a:r>
              <a:rPr lang="pt-BR" dirty="0" err="1"/>
              <a:t>Collab</a:t>
            </a:r>
            <a:r>
              <a:rPr lang="pt-BR" dirty="0"/>
              <a:t>.</a:t>
            </a:r>
          </a:p>
          <a:p>
            <a:r>
              <a:rPr lang="pt-BR" dirty="0"/>
              <a:t>Arquivo ‘1. </a:t>
            </a:r>
            <a:r>
              <a:rPr lang="pt-BR" dirty="0" err="1"/>
              <a:t>AED_redução_dimensionalidade</a:t>
            </a:r>
            <a:r>
              <a:rPr lang="pt-BR" dirty="0"/>
              <a:t>’.</a:t>
            </a:r>
          </a:p>
          <a:p>
            <a:pPr rtl="0"/>
            <a:r>
              <a:rPr lang="pt-BR" dirty="0"/>
              <a:t>Iris </a:t>
            </a:r>
            <a:r>
              <a:rPr lang="pt-BR" dirty="0" err="1"/>
              <a:t>Dataset</a:t>
            </a:r>
            <a:r>
              <a:rPr lang="pt-BR" dirty="0"/>
              <a:t>.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19</a:t>
            </a:fld>
            <a:endParaRPr lang="pt-BR" dirty="0"/>
          </a:p>
        </p:txBody>
      </p:sp>
      <p:pic>
        <p:nvPicPr>
          <p:cNvPr id="6" name="Imagem 5" descr="Flor cor de rosa&#10;&#10;Descrição gerada automaticamente">
            <a:extLst>
              <a:ext uri="{FF2B5EF4-FFF2-40B4-BE49-F238E27FC236}">
                <a16:creationId xmlns:a16="http://schemas.microsoft.com/office/drawing/2014/main" id="{00B18134-5A2E-0360-7B05-84E4BD1B0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466" y="3331460"/>
            <a:ext cx="6796865" cy="2542827"/>
          </a:xfrm>
          <a:prstGeom prst="rect">
            <a:avLst/>
          </a:prstGeom>
        </p:spPr>
      </p:pic>
      <p:sp>
        <p:nvSpPr>
          <p:cNvPr id="7" name="Espaço Reservado para Texto 3">
            <a:extLst>
              <a:ext uri="{FF2B5EF4-FFF2-40B4-BE49-F238E27FC236}">
                <a16:creationId xmlns:a16="http://schemas.microsoft.com/office/drawing/2014/main" id="{DE48303D-A1C7-C17B-9CAD-83A63BDE5346}"/>
              </a:ext>
            </a:extLst>
          </p:cNvPr>
          <p:cNvSpPr txBox="1">
            <a:spLocks/>
          </p:cNvSpPr>
          <p:nvPr/>
        </p:nvSpPr>
        <p:spPr>
          <a:xfrm>
            <a:off x="3581400" y="5879619"/>
            <a:ext cx="8324089" cy="3493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/>
              <a:t>Fonte: Machine Learning in R for </a:t>
            </a:r>
            <a:r>
              <a:rPr lang="pt-BR" b="1" dirty="0" err="1"/>
              <a:t>beginners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7112458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Padrão do plano de fundo">
            <a:extLst>
              <a:ext uri="{FF2B5EF4-FFF2-40B4-BE49-F238E27FC236}">
                <a16:creationId xmlns:a16="http://schemas.microsoft.com/office/drawing/2014/main" id="{E2D2874E-0625-7079-F561-7690C05FF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E9814E9-81CF-6F48-1395-59594FE7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2734" y="2679643"/>
            <a:ext cx="8297380" cy="1326514"/>
          </a:xfrm>
        </p:spPr>
        <p:txBody>
          <a:bodyPr>
            <a:normAutofit/>
          </a:bodyPr>
          <a:lstStyle/>
          <a:p>
            <a:pPr algn="ctr"/>
            <a:r>
              <a:rPr lang="pt-BR" sz="3600" dirty="0"/>
              <a:t>agregação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BC2E8E-6F3B-DB09-2607-A25EFF83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t-BR" smtClean="0"/>
              <a:pPr rtl="0"/>
              <a:t>20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260597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3" y="72518"/>
            <a:ext cx="9183998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cap="none" dirty="0"/>
              <a:t>REDUÇÃO DE DIMENSIONALIDADE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39"/>
            <a:ext cx="8324089" cy="3973597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Ao contrário da </a:t>
            </a:r>
            <a:r>
              <a:rPr lang="pt-BR" u="sng" dirty="0"/>
              <a:t>seleção de atributos</a:t>
            </a:r>
            <a:r>
              <a:rPr lang="pt-BR" dirty="0"/>
              <a:t>, em que se selecionam os atributos mais relevantes para o modelo, na </a:t>
            </a:r>
            <a:r>
              <a:rPr lang="pt-BR" u="sng" dirty="0"/>
              <a:t>redução de dimensionalidade</a:t>
            </a:r>
            <a:r>
              <a:rPr lang="pt-BR" dirty="0"/>
              <a:t>, as colunas (características) são combinadas, visando à redução da dimensionalidade do problema.</a:t>
            </a:r>
          </a:p>
          <a:p>
            <a:pPr rtl="0"/>
            <a:r>
              <a:rPr lang="pt-BR" dirty="0"/>
              <a:t>A </a:t>
            </a:r>
            <a:r>
              <a:rPr lang="pt-BR" b="1" dirty="0">
                <a:solidFill>
                  <a:srgbClr val="FF0000"/>
                </a:solidFill>
              </a:rPr>
              <a:t>ACP</a:t>
            </a:r>
            <a:r>
              <a:rPr lang="pt-BR" dirty="0"/>
              <a:t> (Análise Componente Principal) é a técnica mais utilizada para a </a:t>
            </a:r>
            <a:r>
              <a:rPr lang="pt-BR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redução de dimensionalidade</a:t>
            </a:r>
            <a:r>
              <a:rPr lang="pt-BR" dirty="0"/>
              <a:t>. </a:t>
            </a:r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marL="0" indent="0" rtl="0">
              <a:buNone/>
            </a:pPr>
            <a:endParaRPr lang="pt-BR" dirty="0"/>
          </a:p>
          <a:p>
            <a:pPr rtl="0"/>
            <a:endParaRPr lang="pt-BR" dirty="0"/>
          </a:p>
          <a:p>
            <a:pPr rtl="0"/>
            <a:endParaRPr lang="pt-BR" i="1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21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537605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3" y="72518"/>
            <a:ext cx="9183998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cap="none" dirty="0"/>
              <a:t>ANÁLISE COMPONENTE PRINCIPAL (ACP)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39"/>
            <a:ext cx="8324089" cy="4173983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A técnica de ACP investiga as relações entre um conjunto de p variáveis </a:t>
            </a:r>
            <a:r>
              <a:rPr lang="pt-BR" b="1" dirty="0">
                <a:solidFill>
                  <a:srgbClr val="FF0000"/>
                </a:solidFill>
              </a:rPr>
              <a:t>correlacionadas</a:t>
            </a:r>
            <a:r>
              <a:rPr lang="pt-BR" b="1" dirty="0"/>
              <a:t> </a:t>
            </a:r>
            <a:r>
              <a:rPr lang="pt-BR" dirty="0"/>
              <a:t>por meio de transformações do conjunto de p variáveis originais em um </a:t>
            </a:r>
            <a:r>
              <a:rPr lang="pt-BR" b="1" dirty="0">
                <a:solidFill>
                  <a:srgbClr val="FF0000"/>
                </a:solidFill>
              </a:rPr>
              <a:t>novo conjunto de k variáveis não-correlacionadas</a:t>
            </a:r>
            <a:r>
              <a:rPr lang="pt-BR" dirty="0"/>
              <a:t>.</a:t>
            </a:r>
          </a:p>
          <a:p>
            <a:pPr rtl="0"/>
            <a:r>
              <a:rPr lang="pt-BR" dirty="0"/>
              <a:t>As novas variáveis, </a:t>
            </a:r>
            <a:r>
              <a:rPr lang="pt-BR" b="1" dirty="0">
                <a:solidFill>
                  <a:srgbClr val="FF0000"/>
                </a:solidFill>
              </a:rPr>
              <a:t>componentes principais</a:t>
            </a:r>
            <a:r>
              <a:rPr lang="pt-BR" dirty="0"/>
              <a:t>, são combinações lineares das variáveis originais e são derivadas em ordem decrescente de importância tal que a primeira componente principal é a combinação linear com a </a:t>
            </a:r>
            <a:r>
              <a:rPr lang="pt-BR" u="sng" dirty="0"/>
              <a:t>variância</a:t>
            </a:r>
            <a:r>
              <a:rPr lang="pt-BR" dirty="0"/>
              <a:t> máxima.</a:t>
            </a:r>
          </a:p>
          <a:p>
            <a:pPr rtl="0"/>
            <a:r>
              <a:rPr lang="pt-BR" dirty="0"/>
              <a:t>k &lt; p </a:t>
            </a:r>
            <a:r>
              <a:rPr lang="pt-BR" dirty="0">
                <a:sym typeface="Wingdings" panose="05000000000000000000" pitchFamily="2" charset="2"/>
              </a:rPr>
              <a:t> redução da dimensionalidade do problema.</a:t>
            </a:r>
          </a:p>
          <a:p>
            <a:pPr rtl="0"/>
            <a:r>
              <a:rPr lang="pt-BR" dirty="0">
                <a:sym typeface="Wingdings" panose="05000000000000000000" pitchFamily="2" charset="2"/>
              </a:rPr>
              <a:t>Nesse caso, existe a mesma quantidade de informação nas k componentes principais que nas p variáveis originais.</a:t>
            </a:r>
            <a:endParaRPr lang="pt-BR" dirty="0"/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marL="0" indent="0" rtl="0">
              <a:buNone/>
            </a:pPr>
            <a:endParaRPr lang="pt-BR" dirty="0"/>
          </a:p>
          <a:p>
            <a:pPr rtl="0"/>
            <a:endParaRPr lang="pt-BR" dirty="0"/>
          </a:p>
          <a:p>
            <a:pPr rtl="0"/>
            <a:endParaRPr lang="pt-BR" i="1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22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55986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3" y="72518"/>
            <a:ext cx="9183998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cap="none" dirty="0"/>
              <a:t>ANÁLISE COMPONENTE PRINCIPAL (ACP)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39"/>
            <a:ext cx="8324089" cy="4173983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marL="0" indent="0" rtl="0">
              <a:buNone/>
            </a:pPr>
            <a:r>
              <a:rPr lang="pt-BR" b="1" dirty="0">
                <a:solidFill>
                  <a:srgbClr val="FF0000"/>
                </a:solidFill>
              </a:rPr>
              <a:t>IMPORTANTE: se os dados multivariados não forem normalmente distribuídos, as componentes principais extraídas não serão confiáveis.</a:t>
            </a:r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rtl="0"/>
            <a:endParaRPr lang="pt-BR" dirty="0"/>
          </a:p>
          <a:p>
            <a:pPr marL="0" indent="0" rtl="0">
              <a:buNone/>
            </a:pPr>
            <a:endParaRPr lang="pt-BR" dirty="0"/>
          </a:p>
          <a:p>
            <a:pPr rtl="0"/>
            <a:endParaRPr lang="pt-BR" dirty="0"/>
          </a:p>
          <a:p>
            <a:pPr rtl="0"/>
            <a:endParaRPr lang="pt-BR" i="1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23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352046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A9B93D8-6E6A-AE63-E103-977C3F1AD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F1F6D-C74B-D357-B125-0C10D8BC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cap="none" dirty="0"/>
              <a:t>ANÁLISE COMPONENTE PRINCIPAL (ACP)</a:t>
            </a:r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ED2CD2B-A836-BEA0-9B70-3D4374173D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 dirty="0"/>
              <a:t>Google </a:t>
            </a:r>
            <a:r>
              <a:rPr lang="pt-BR" dirty="0" err="1"/>
              <a:t>Collab</a:t>
            </a:r>
            <a:r>
              <a:rPr lang="pt-BR" dirty="0"/>
              <a:t>.</a:t>
            </a:r>
          </a:p>
          <a:p>
            <a:r>
              <a:rPr lang="pt-BR" dirty="0"/>
              <a:t>Arquivo ‘1. </a:t>
            </a:r>
            <a:r>
              <a:rPr lang="pt-BR" dirty="0" err="1"/>
              <a:t>AED_redução_dimensionalidade</a:t>
            </a:r>
            <a:r>
              <a:rPr lang="pt-BR" dirty="0"/>
              <a:t>’.</a:t>
            </a:r>
          </a:p>
          <a:p>
            <a:pPr rtl="0"/>
            <a:r>
              <a:rPr lang="pt-BR" dirty="0"/>
              <a:t>Iris </a:t>
            </a:r>
            <a:r>
              <a:rPr lang="pt-BR" dirty="0" err="1"/>
              <a:t>Dataset</a:t>
            </a:r>
            <a:r>
              <a:rPr lang="pt-BR" dirty="0"/>
              <a:t>.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BE8E13CF-56A5-AB20-6AEF-11AB08110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24</a:t>
            </a:fld>
            <a:endParaRPr lang="pt-BR" dirty="0"/>
          </a:p>
        </p:txBody>
      </p:sp>
      <p:pic>
        <p:nvPicPr>
          <p:cNvPr id="6" name="Imagem 5" descr="Flor cor de rosa&#10;&#10;Descrição gerada automaticamente">
            <a:extLst>
              <a:ext uri="{FF2B5EF4-FFF2-40B4-BE49-F238E27FC236}">
                <a16:creationId xmlns:a16="http://schemas.microsoft.com/office/drawing/2014/main" id="{CE26D073-8C58-32A2-95C8-E4D8F5043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466" y="3331460"/>
            <a:ext cx="6796865" cy="2542827"/>
          </a:xfrm>
          <a:prstGeom prst="rect">
            <a:avLst/>
          </a:prstGeom>
        </p:spPr>
      </p:pic>
      <p:sp>
        <p:nvSpPr>
          <p:cNvPr id="7" name="Espaço Reservado para Texto 3">
            <a:extLst>
              <a:ext uri="{FF2B5EF4-FFF2-40B4-BE49-F238E27FC236}">
                <a16:creationId xmlns:a16="http://schemas.microsoft.com/office/drawing/2014/main" id="{40432954-8A45-C1DD-2EBB-AAA962613E95}"/>
              </a:ext>
            </a:extLst>
          </p:cNvPr>
          <p:cNvSpPr txBox="1">
            <a:spLocks/>
          </p:cNvSpPr>
          <p:nvPr/>
        </p:nvSpPr>
        <p:spPr>
          <a:xfrm>
            <a:off x="3581400" y="5879619"/>
            <a:ext cx="8324089" cy="3493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  <a:lvl1pPr marL="228600" indent="-228600" algn="l" defTabSz="914400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145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71700" indent="-342900" algn="l" defTabSz="914400" rtl="0" eaLnBrk="1" latinLnBrk="0" hangingPunct="1">
              <a:lnSpc>
                <a:spcPts val="24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pt-BR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/>
              <a:t>Fonte: Machine Learning in R for </a:t>
            </a:r>
            <a:r>
              <a:rPr lang="pt-BR" b="1" dirty="0" err="1"/>
              <a:t>beginners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7386778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F2071-49F5-E4AC-A95A-0DF96D04A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Padrão do plano de fundo">
            <a:extLst>
              <a:ext uri="{FF2B5EF4-FFF2-40B4-BE49-F238E27FC236}">
                <a16:creationId xmlns:a16="http://schemas.microsoft.com/office/drawing/2014/main" id="{35441425-1B17-FBF0-EA71-F96B4C1D6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F3350DF-F3F4-7601-DCE3-7DF93D8EB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2734" y="2679642"/>
            <a:ext cx="8297380" cy="1698577"/>
          </a:xfrm>
        </p:spPr>
        <p:txBody>
          <a:bodyPr>
            <a:normAutofit/>
          </a:bodyPr>
          <a:lstStyle/>
          <a:p>
            <a:pPr algn="ctr"/>
            <a:r>
              <a:rPr lang="pt-BR" sz="3600" dirty="0"/>
              <a:t>Introdução ao aprendizado de máquina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E53ADF5-0EAD-611E-A330-9F48B51F5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t-BR" smtClean="0"/>
              <a:pPr rtl="0"/>
              <a:t>25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519428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A949D45-F38A-6F25-F11B-29585D590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BC1AC9-8954-D6E1-FA78-E06151817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61427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PROCESSO DE CIÊNCIA DE DADOS (CRISP-DM)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22298064-83E6-793F-D543-C242CC3B7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26</a:t>
            </a:fld>
            <a:endParaRPr lang="pt-BR" dirty="0"/>
          </a:p>
        </p:txBody>
      </p:sp>
      <p:pic>
        <p:nvPicPr>
          <p:cNvPr id="8" name="Imagem 7" descr="Diagrama&#10;&#10;O conteúdo gerado por IA pode estar incorreto.">
            <a:extLst>
              <a:ext uri="{FF2B5EF4-FFF2-40B4-BE49-F238E27FC236}">
                <a16:creationId xmlns:a16="http://schemas.microsoft.com/office/drawing/2014/main" id="{6B3344D2-782E-E93D-0402-CB338B5BD9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216" y="1544669"/>
            <a:ext cx="5040775" cy="4884515"/>
          </a:xfrm>
          <a:prstGeom prst="rect">
            <a:avLst/>
          </a:prstGeom>
        </p:spPr>
      </p:pic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60D6889F-D1C4-0E73-1897-C81CCDEF5114}"/>
              </a:ext>
            </a:extLst>
          </p:cNvPr>
          <p:cNvSpPr/>
          <p:nvPr/>
        </p:nvSpPr>
        <p:spPr>
          <a:xfrm rot="13311698">
            <a:off x="7106278" y="4692886"/>
            <a:ext cx="1035513" cy="775120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165888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7EB5FF6-DB3E-F7B5-3C99-128B405FC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F71A26-D8DF-FE56-95C2-A2C33411E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3" y="72518"/>
            <a:ext cx="957106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cap="none" dirty="0"/>
              <a:t>INTRODUÇÃO AO APRENDIZADO DE MÁQUINA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73681A1-F70E-9609-3A0B-12D64FE7DA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2" y="1641075"/>
            <a:ext cx="8324089" cy="4405161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b="1" dirty="0"/>
              <a:t>Preparação dos Dados: </a:t>
            </a:r>
            <a:r>
              <a:rPr lang="pt-BR" dirty="0"/>
              <a:t>Limpeza e organização dos dados para análise.</a:t>
            </a:r>
          </a:p>
          <a:p>
            <a:r>
              <a:rPr lang="pt-BR" b="1" dirty="0"/>
              <a:t>Análise Exploratória dos Dados (AED): </a:t>
            </a:r>
            <a:r>
              <a:rPr lang="pt-BR" dirty="0"/>
              <a:t>Compreensão dos padrões, distribuições e correlações nos dados.</a:t>
            </a:r>
          </a:p>
          <a:p>
            <a:r>
              <a:rPr lang="pt-BR" b="1" dirty="0"/>
              <a:t>Seleção de Métodos e Modelos: </a:t>
            </a:r>
            <a:r>
              <a:rPr lang="pt-BR" dirty="0"/>
              <a:t>Escolha das técnicas analíticas conforme a </a:t>
            </a:r>
            <a:r>
              <a:rPr lang="pt-BR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natureza do problema</a:t>
            </a:r>
            <a:r>
              <a:rPr lang="pt-BR" dirty="0"/>
              <a:t>.</a:t>
            </a:r>
          </a:p>
          <a:p>
            <a:r>
              <a:rPr lang="pt-BR" b="1" dirty="0"/>
              <a:t>Ajuste do Modelo: </a:t>
            </a:r>
            <a:r>
              <a:rPr lang="pt-BR" dirty="0"/>
              <a:t>Estimativa de parâmetros a partir de dados conhecidos.</a:t>
            </a:r>
          </a:p>
          <a:p>
            <a:r>
              <a:rPr lang="pt-BR" b="1" dirty="0"/>
              <a:t>Validação do Modelo: </a:t>
            </a:r>
            <a:r>
              <a:rPr lang="pt-BR" dirty="0"/>
              <a:t>Avaliação do desempenho do modelo em dados não utilizados no treinamento.</a:t>
            </a:r>
          </a:p>
          <a:p>
            <a:pPr rtl="0"/>
            <a:endParaRPr lang="pt-BR" dirty="0"/>
          </a:p>
          <a:p>
            <a:pPr marL="0" indent="0" rtl="0">
              <a:buNone/>
            </a:pPr>
            <a:endParaRPr lang="pt-BR" dirty="0"/>
          </a:p>
          <a:p>
            <a:pPr rtl="0"/>
            <a:endParaRPr lang="pt-BR" dirty="0"/>
          </a:p>
          <a:p>
            <a:pPr rtl="0"/>
            <a:endParaRPr lang="pt-BR" i="1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525C0DC5-BBED-3C7A-5F1C-686A1102D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27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CD36FF3-8AE0-0EC8-19AB-A06A88917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0125" y="2398635"/>
            <a:ext cx="3137833" cy="263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2851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099658-05C5-F482-3596-E4D9C22DA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18BDD9-DCB8-5A50-94AE-7EF27A519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3" y="72518"/>
            <a:ext cx="957106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cap="none" dirty="0"/>
              <a:t>INTRODUÇÃO AO APRENDIZADO DE MÁQUINA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6EE88A-9865-8929-AF71-395395D0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2" y="1641075"/>
            <a:ext cx="8547541" cy="4405161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dirty="0"/>
              <a:t>A escolha dos métodos e modelos depende da natureza do  problema abordado.</a:t>
            </a:r>
          </a:p>
          <a:p>
            <a:r>
              <a:rPr lang="pt-BR" dirty="0"/>
              <a:t>Dois grandes grupos:</a:t>
            </a:r>
          </a:p>
          <a:p>
            <a:pPr lvl="2"/>
            <a:r>
              <a:rPr lang="pt-BR" sz="1800" dirty="0"/>
              <a:t>Problemas Descritivos: buscam identificar padrões e relações entre atributos e instâncias.</a:t>
            </a:r>
          </a:p>
          <a:p>
            <a:pPr lvl="2"/>
            <a:r>
              <a:rPr lang="pt-BR" sz="1800" dirty="0"/>
              <a:t>Problemas Preditivos: objetivam prever valores futuros ou desconhecidos com base em dados pregressos.</a:t>
            </a:r>
          </a:p>
          <a:p>
            <a:pPr marL="0" indent="0" rtl="0">
              <a:buNone/>
            </a:pPr>
            <a:endParaRPr lang="pt-BR" dirty="0"/>
          </a:p>
          <a:p>
            <a:pPr rtl="0"/>
            <a:endParaRPr lang="pt-BR" dirty="0"/>
          </a:p>
          <a:p>
            <a:pPr rtl="0"/>
            <a:endParaRPr lang="pt-BR" i="1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0ACD948C-3FCD-1D31-3219-CE70076CB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28</a:t>
            </a:fld>
            <a:endParaRPr lang="pt-BR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1C7021DF-8126-DE81-A568-2846D4DFF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5153" y="1399032"/>
            <a:ext cx="2501769" cy="4348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4330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EBE57-5F14-A3D6-DF57-629DBD317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Padrão do plano de fundo">
            <a:extLst>
              <a:ext uri="{FF2B5EF4-FFF2-40B4-BE49-F238E27FC236}">
                <a16:creationId xmlns:a16="http://schemas.microsoft.com/office/drawing/2014/main" id="{B71163FA-136C-29BD-B069-2DB360852B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C633BD7-6289-7345-FCE1-AEDFD4E14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2734" y="2679642"/>
            <a:ext cx="8297380" cy="1698577"/>
          </a:xfrm>
        </p:spPr>
        <p:txBody>
          <a:bodyPr>
            <a:normAutofit/>
          </a:bodyPr>
          <a:lstStyle/>
          <a:p>
            <a:pPr algn="ctr"/>
            <a:r>
              <a:rPr lang="pt-BR" sz="3600" dirty="0"/>
              <a:t>MÉTODOS DESCRITIVOS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26C8C8E-E923-5E72-11AE-AC24382EA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t-BR" smtClean="0"/>
              <a:pPr rtl="0"/>
              <a:t>29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8015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32DEF47-4E19-08D0-5E8B-338F781EB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461D20-68F5-6CF6-FF21-5A762AE47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3" y="72518"/>
            <a:ext cx="957106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cap="none" dirty="0"/>
              <a:t>ABORDAGENS NÃO SUPERVISIONADAS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7C35E2-76FE-AB90-58B7-99A1F4D832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2" y="1641075"/>
            <a:ext cx="8571763" cy="4405161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dirty="0"/>
              <a:t>Não requerem dados com rótulos (</a:t>
            </a:r>
            <a:r>
              <a:rPr lang="pt-BR" i="1" dirty="0" err="1"/>
              <a:t>labels</a:t>
            </a:r>
            <a:r>
              <a:rPr lang="pt-BR" dirty="0"/>
              <a:t>, target ou variável-resposta).</a:t>
            </a:r>
          </a:p>
          <a:p>
            <a:r>
              <a:rPr lang="pt-BR" dirty="0"/>
              <a:t>Focados em </a:t>
            </a:r>
            <a:r>
              <a:rPr lang="pt-BR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estrutura</a:t>
            </a:r>
            <a:r>
              <a:rPr lang="pt-BR" dirty="0"/>
              <a:t> e </a:t>
            </a:r>
            <a:r>
              <a:rPr lang="pt-BR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agrupamento</a:t>
            </a:r>
            <a:r>
              <a:rPr lang="pt-BR" dirty="0"/>
              <a:t> dos dados.</a:t>
            </a:r>
          </a:p>
          <a:p>
            <a:r>
              <a:rPr lang="pt-BR" dirty="0"/>
              <a:t>Exemplos:</a:t>
            </a:r>
          </a:p>
          <a:p>
            <a:pPr lvl="2"/>
            <a:r>
              <a:rPr lang="pt-BR" sz="1800" i="1" dirty="0" err="1"/>
              <a:t>Clustering</a:t>
            </a:r>
            <a:r>
              <a:rPr lang="pt-BR" sz="1800" dirty="0"/>
              <a:t> (Agrupamento).</a:t>
            </a:r>
          </a:p>
          <a:p>
            <a:pPr lvl="2"/>
            <a:r>
              <a:rPr lang="pt-BR" sz="1800" dirty="0"/>
              <a:t>Regras de Associação.</a:t>
            </a:r>
          </a:p>
          <a:p>
            <a:pPr marL="0" indent="0" rtl="0">
              <a:buNone/>
            </a:pPr>
            <a:endParaRPr lang="pt-BR" dirty="0"/>
          </a:p>
          <a:p>
            <a:pPr rtl="0"/>
            <a:endParaRPr lang="pt-BR" dirty="0"/>
          </a:p>
          <a:p>
            <a:pPr rtl="0"/>
            <a:endParaRPr lang="pt-BR" i="1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A3066D13-082A-52EC-F401-91E6DB82E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30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9AD044C-F6C3-9BFE-2C4D-C6EF37C42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0919" y="2764970"/>
            <a:ext cx="4945076" cy="333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9561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D019E-2731-AC26-3682-8F1A9B012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Padrão do plano de fundo">
            <a:extLst>
              <a:ext uri="{FF2B5EF4-FFF2-40B4-BE49-F238E27FC236}">
                <a16:creationId xmlns:a16="http://schemas.microsoft.com/office/drawing/2014/main" id="{594F05AC-C9F0-4906-2C54-EC9C5997B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F40FFFC-F736-9333-43D5-585C0371A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2734" y="2679642"/>
            <a:ext cx="8297380" cy="1698577"/>
          </a:xfrm>
        </p:spPr>
        <p:txBody>
          <a:bodyPr>
            <a:normAutofit/>
          </a:bodyPr>
          <a:lstStyle/>
          <a:p>
            <a:pPr algn="ctr"/>
            <a:r>
              <a:rPr lang="pt-BR" sz="3600" dirty="0"/>
              <a:t>MÉTODOS PREDITIVOS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E7C20E0-7DCC-FA77-4A1C-E2761336A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t-BR" smtClean="0"/>
              <a:pPr rtl="0"/>
              <a:t>31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59436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4E3FB11-F215-0F3A-AA32-11B522288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1A960-A930-3A78-E150-B4E461DAD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3" y="72518"/>
            <a:ext cx="957106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cap="none" dirty="0"/>
              <a:t>ABORDAGENS SUPERVISIONADAS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0EA9581-413E-F4A0-A344-58A19E375E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2" y="1641075"/>
            <a:ext cx="9243938" cy="4405161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dirty="0"/>
              <a:t>Necessitam de </a:t>
            </a:r>
            <a:r>
              <a:rPr lang="pt-BR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dados rotulados </a:t>
            </a:r>
            <a:r>
              <a:rPr lang="pt-BR" dirty="0"/>
              <a:t>(</a:t>
            </a:r>
            <a:r>
              <a:rPr lang="pt-BR" i="1" dirty="0" err="1"/>
              <a:t>labels</a:t>
            </a:r>
            <a:r>
              <a:rPr lang="pt-BR" dirty="0"/>
              <a:t>, target ou variável-resposta).</a:t>
            </a:r>
          </a:p>
          <a:p>
            <a:r>
              <a:rPr lang="pt-BR" dirty="0"/>
              <a:t>Utilizam os dados rotulados para treinar modelos capazes de realizar predições de valores quantitativos (</a:t>
            </a:r>
            <a:r>
              <a:rPr lang="pt-BR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regressão</a:t>
            </a:r>
            <a:r>
              <a:rPr lang="pt-BR" dirty="0"/>
              <a:t>) e qualitativos (</a:t>
            </a:r>
            <a:r>
              <a:rPr lang="pt-BR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classificação</a:t>
            </a:r>
            <a:r>
              <a:rPr lang="pt-BR" dirty="0"/>
              <a:t>).</a:t>
            </a:r>
          </a:p>
          <a:p>
            <a:r>
              <a:rPr lang="pt-BR" dirty="0"/>
              <a:t>Exemplos:</a:t>
            </a:r>
          </a:p>
          <a:p>
            <a:pPr lvl="2"/>
            <a:r>
              <a:rPr lang="pt-BR" sz="1800" dirty="0"/>
              <a:t>Regressão Linear</a:t>
            </a:r>
          </a:p>
          <a:p>
            <a:pPr lvl="2"/>
            <a:r>
              <a:rPr lang="pt-BR" sz="1800" dirty="0"/>
              <a:t>Máquinas de Vetores de Suporte (SVM)</a:t>
            </a:r>
          </a:p>
          <a:p>
            <a:pPr lvl="2"/>
            <a:r>
              <a:rPr lang="pt-BR" sz="1800" dirty="0"/>
              <a:t>Florestas Aleatórias (</a:t>
            </a:r>
            <a:r>
              <a:rPr lang="pt-BR" sz="1800" i="1" dirty="0"/>
              <a:t>Random </a:t>
            </a:r>
            <a:r>
              <a:rPr lang="pt-BR" sz="1800" i="1" dirty="0" err="1"/>
              <a:t>Forests</a:t>
            </a:r>
            <a:r>
              <a:rPr lang="pt-BR" sz="1800" dirty="0"/>
              <a:t>)</a:t>
            </a:r>
          </a:p>
          <a:p>
            <a:pPr rtl="0"/>
            <a:endParaRPr lang="pt-BR" dirty="0"/>
          </a:p>
          <a:p>
            <a:pPr rtl="0"/>
            <a:endParaRPr lang="pt-BR" i="1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55FFF13A-7970-12F8-1448-DB31AB8C6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32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A884115-15BD-738F-38F7-6596A09F3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9166" y="3152116"/>
            <a:ext cx="2957525" cy="297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993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B58FF-26D4-291B-6CB9-4D6C05349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Padrão do plano de fundo">
            <a:extLst>
              <a:ext uri="{FF2B5EF4-FFF2-40B4-BE49-F238E27FC236}">
                <a16:creationId xmlns:a16="http://schemas.microsoft.com/office/drawing/2014/main" id="{E92B86A4-DCF3-8CD8-BE95-A3A7ECDBB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DFF834F-8505-4B5B-7C6A-432AADD12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2734" y="2679642"/>
            <a:ext cx="8297380" cy="1698577"/>
          </a:xfrm>
        </p:spPr>
        <p:txBody>
          <a:bodyPr>
            <a:normAutofit/>
          </a:bodyPr>
          <a:lstStyle/>
          <a:p>
            <a:pPr algn="ctr"/>
            <a:r>
              <a:rPr lang="pt-BR" sz="3600" dirty="0"/>
              <a:t>CRITÉRIOS PARA SELEÇÃO DE MODELOS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A8BFC4-E629-5C8E-854E-BCE2CA412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t-BR" smtClean="0"/>
              <a:pPr rtl="0"/>
              <a:t>33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78268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CD5A865-F3C6-861A-1DBA-DE78EECC8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845532-257F-CF79-6189-1403B728E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3" y="72518"/>
            <a:ext cx="957106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cap="none" dirty="0"/>
              <a:t>SELEÇÃO DE MODELOS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B36FBD3-8B64-2165-8253-FE9DAEA366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2" y="1641075"/>
            <a:ext cx="9243938" cy="4405161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/>
              <a:t>A complexidade deve ser balanceada com a interpretabilidade.</a:t>
            </a:r>
          </a:p>
          <a:p>
            <a:r>
              <a:rPr lang="pt-BR" b="1"/>
              <a:t>Princípio da Parcimônia: </a:t>
            </a:r>
            <a:r>
              <a:rPr lang="pt-BR"/>
              <a:t>Comece com modelos simples e interprete antes de adotar modelos mais complexos.</a:t>
            </a:r>
          </a:p>
          <a:p>
            <a:pPr rtl="0"/>
            <a:endParaRPr lang="pt-BR" i="1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149C21EE-4CCF-C7DC-DAD2-134D5EF56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34</a:t>
            </a:fld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F929606-ED70-7C36-3669-B78E1BED4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731" y="2817133"/>
            <a:ext cx="3496030" cy="332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555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0BA53-6A26-A913-221B-05074C54C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Uma imagem contendo Padrão do plano de fundo">
            <a:extLst>
              <a:ext uri="{FF2B5EF4-FFF2-40B4-BE49-F238E27FC236}">
                <a16:creationId xmlns:a16="http://schemas.microsoft.com/office/drawing/2014/main" id="{F261116A-0FAC-1EEE-0FDA-F1B4C36CA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5471EE4-C8B5-6C9E-D473-F5737964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2734" y="2679642"/>
            <a:ext cx="8297380" cy="1698577"/>
          </a:xfrm>
        </p:spPr>
        <p:txBody>
          <a:bodyPr>
            <a:normAutofit/>
          </a:bodyPr>
          <a:lstStyle/>
          <a:p>
            <a:pPr algn="ctr"/>
            <a:r>
              <a:rPr lang="pt-BR" sz="3600" dirty="0"/>
              <a:t>AJUSTE DO MODELO</a:t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2E32F84-AC3B-3A24-E38F-75487FFE9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pt-BR" smtClean="0"/>
              <a:pPr rtl="0"/>
              <a:t>35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24214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7DB1BE5-EDBC-8B88-B20A-AD45F21EE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B4B6C9-9D46-6022-6E34-362E9FD21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3" y="72518"/>
            <a:ext cx="9571064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cap="none" dirty="0"/>
              <a:t>AJUSTE DO MODELO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2361334-1978-7D57-A890-964A7CB6DB9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2" y="1641075"/>
            <a:ext cx="9243938" cy="4405161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dirty="0"/>
              <a:t>Modelos </a:t>
            </a:r>
            <a:r>
              <a:rPr lang="pt-BR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supervisionados</a:t>
            </a:r>
            <a:r>
              <a:rPr lang="pt-BR" dirty="0"/>
              <a:t> requerem um subconjunto de dados com  respostas (</a:t>
            </a:r>
            <a:r>
              <a:rPr lang="pt-BR" i="1" dirty="0" err="1"/>
              <a:t>labels</a:t>
            </a:r>
            <a:r>
              <a:rPr lang="pt-BR" dirty="0"/>
              <a:t> ou rótulos) conhecidas (</a:t>
            </a:r>
            <a:r>
              <a:rPr lang="pt-BR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conjunto de treinamento</a:t>
            </a:r>
            <a:r>
              <a:rPr lang="pt-BR" dirty="0"/>
              <a:t>).</a:t>
            </a:r>
          </a:p>
          <a:p>
            <a:r>
              <a:rPr lang="pt-BR" dirty="0"/>
              <a:t>A partir desses dados, os parâmetros do modelo são ajustados para otimizar sua capacidade preditiva.</a:t>
            </a:r>
            <a:endParaRPr lang="pt-BR" i="1" dirty="0"/>
          </a:p>
          <a:p>
            <a:pPr rtl="0"/>
            <a:endParaRPr lang="pt-BR" dirty="0"/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C1D3B89A-7E40-73DC-BAFA-B9399A40D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36</a:t>
            </a:fld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530A58E-1AA9-380A-6EFB-41A732BA5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731" y="2817133"/>
            <a:ext cx="3496030" cy="332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6845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6D120B-CCFC-9BB5-AB26-6EEE0F820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3D4A66-B4A6-6EFF-FD55-F9F3F0B8B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3" y="72518"/>
            <a:ext cx="9902698" cy="13265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cap="none" dirty="0"/>
              <a:t>RISCO ASSOCIADO À COMPLEXIDADE DOS MODELOS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5DF541-DCF3-BDF0-D3ED-BC1A6FCAF7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2" y="1641075"/>
            <a:ext cx="9243938" cy="4405161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dirty="0"/>
              <a:t>Modelos com alta complexidade podem </a:t>
            </a:r>
            <a:r>
              <a:rPr lang="pt-BR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sobreajustar</a:t>
            </a:r>
            <a:r>
              <a:rPr lang="pt-BR" dirty="0"/>
              <a:t> (</a:t>
            </a:r>
            <a:r>
              <a:rPr lang="pt-BR" i="1" dirty="0" err="1"/>
              <a:t>overfitting</a:t>
            </a:r>
            <a:r>
              <a:rPr lang="pt-BR" dirty="0"/>
              <a:t>) aos dados de treinamento.</a:t>
            </a:r>
          </a:p>
          <a:p>
            <a:r>
              <a:rPr lang="pt-BR" dirty="0"/>
              <a:t>A qualidade do modelo depende:</a:t>
            </a:r>
          </a:p>
          <a:p>
            <a:pPr lvl="2"/>
            <a:r>
              <a:rPr lang="pt-BR" sz="1800" dirty="0"/>
              <a:t>Da sua capacidade de </a:t>
            </a:r>
            <a:r>
              <a:rPr lang="pt-BR" sz="18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generalização</a:t>
            </a:r>
            <a:r>
              <a:rPr lang="pt-BR" sz="1800" dirty="0"/>
              <a:t> em conjuntos não utilizados no treinamento (</a:t>
            </a:r>
            <a:r>
              <a:rPr lang="pt-BR" sz="18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conjunto de teste</a:t>
            </a:r>
            <a:r>
              <a:rPr lang="pt-BR" sz="1800" dirty="0"/>
              <a:t>).</a:t>
            </a:r>
          </a:p>
          <a:p>
            <a:pPr lvl="2"/>
            <a:r>
              <a:rPr lang="pt-BR" sz="1800" dirty="0"/>
              <a:t>Da </a:t>
            </a:r>
            <a:r>
              <a:rPr lang="pt-BR" sz="18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representatividade</a:t>
            </a:r>
            <a:r>
              <a:rPr lang="pt-BR" sz="1800" dirty="0"/>
              <a:t> e </a:t>
            </a:r>
            <a:r>
              <a:rPr lang="pt-BR" sz="18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qualidade</a:t>
            </a:r>
            <a:r>
              <a:rPr lang="pt-BR" sz="1800" dirty="0"/>
              <a:t> dos dados utilizados no treinamento.</a:t>
            </a:r>
          </a:p>
        </p:txBody>
      </p:sp>
      <p:sp>
        <p:nvSpPr>
          <p:cNvPr id="3" name="Espaço Reservado para o Número do Slide 2">
            <a:extLst>
              <a:ext uri="{FF2B5EF4-FFF2-40B4-BE49-F238E27FC236}">
                <a16:creationId xmlns:a16="http://schemas.microsoft.com/office/drawing/2014/main" id="{09ABEC9C-8E4E-74B2-4056-7A70FFE67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37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79683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Título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Obrigado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C6DB3D-3AE2-9478-3245-FE2F98B96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3" y="4006024"/>
            <a:ext cx="5794248" cy="2346960"/>
          </a:xfrm>
        </p:spPr>
        <p:txBody>
          <a:bodyPr rtlCol="0"/>
          <a:lstStyle>
            <a:defPPr>
              <a:defRPr lang="pt-BR"/>
            </a:defPPr>
          </a:lstStyle>
          <a:p>
            <a:pPr rtl="0">
              <a:spcAft>
                <a:spcPts val="0"/>
              </a:spcAft>
            </a:pPr>
            <a:r>
              <a:rPr lang="pt-BR" dirty="0"/>
              <a:t>Luiz Carlos R. Neduziak</a:t>
            </a:r>
          </a:p>
          <a:p>
            <a:pPr rtl="0">
              <a:spcAft>
                <a:spcPts val="0"/>
              </a:spcAft>
            </a:pPr>
            <a:r>
              <a:rPr lang="pt-BR" dirty="0"/>
              <a:t>luiz.neduziak@pucpr.br</a:t>
            </a:r>
          </a:p>
        </p:txBody>
      </p:sp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42477_TF16411248_Win32" id="{E0B7C64D-E7E1-4555-8117-61C2A45FE039}" vid="{4C7C9429-2BC7-4AFE-A088-9B9FA8128CA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C5040CA-20CC-43C6-BC0C-8D8696B6AF89}">
  <ds:schemaRefs>
    <ds:schemaRef ds:uri="http://schemas.microsoft.com/office/2006/documentManagement/types"/>
    <ds:schemaRef ds:uri="http://purl.org/dc/dcmitype/"/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230e9df3-be65-4c73-a93b-d1236ebd677e"/>
    <ds:schemaRef ds:uri="http://schemas.openxmlformats.org/package/2006/metadata/core-properties"/>
    <ds:schemaRef ds:uri="http://purl.org/dc/elements/1.1/"/>
    <ds:schemaRef ds:uri="16c05727-aa75-4e4a-9b5f-8a80a1165891"/>
    <ds:schemaRef ds:uri="71af3243-3dd4-4a8d-8c0d-dd76da1f02a5"/>
    <ds:schemaRef ds:uri="http://schemas.microsoft.com/sharepoint/v3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461</TotalTime>
  <Words>1554</Words>
  <Application>Microsoft Office PowerPoint</Application>
  <PresentationFormat>Widescreen</PresentationFormat>
  <Paragraphs>248</Paragraphs>
  <Slides>38</Slides>
  <Notes>38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4" baseType="lpstr">
      <vt:lpstr>Arial</vt:lpstr>
      <vt:lpstr>Avenir Next LT Pro Light</vt:lpstr>
      <vt:lpstr>Calibri</vt:lpstr>
      <vt:lpstr>Posterama</vt:lpstr>
      <vt:lpstr>Wingdings</vt:lpstr>
      <vt:lpstr>Personalizado</vt:lpstr>
      <vt:lpstr>Ciência de dados – MODELAGEM AVANÇADA </vt:lpstr>
      <vt:lpstr>AGENDA (06/09)</vt:lpstr>
      <vt:lpstr>PROCESSO DE CIÊNCIA DE DADOS (CRISP-DM)</vt:lpstr>
      <vt:lpstr>Aula passada</vt:lpstr>
      <vt:lpstr>A maldição da dimensionalidade </vt:lpstr>
      <vt:lpstr>A MALDIÇÃO DA DIMENSIONALIDADE</vt:lpstr>
      <vt:lpstr>A MALDIÇÃO DA DIMENSIONALIDADE</vt:lpstr>
      <vt:lpstr>A MALDIÇÃO DA DIMENSIONALIDADE</vt:lpstr>
      <vt:lpstr>A MALDIÇÃO DA DIMENSIONALIDADE</vt:lpstr>
      <vt:lpstr>Seleção de atributos </vt:lpstr>
      <vt:lpstr>Apresentação do PowerPoint</vt:lpstr>
      <vt:lpstr>Seleção de atributos</vt:lpstr>
      <vt:lpstr>Seleção de atributos</vt:lpstr>
      <vt:lpstr>Seleção de atributos</vt:lpstr>
      <vt:lpstr>Abordagens para a seleção de atributos</vt:lpstr>
      <vt:lpstr>Filtro selectkbest</vt:lpstr>
      <vt:lpstr>WRAPPER RFE (Recursive Feature Elimination)</vt:lpstr>
      <vt:lpstr>NAVALHA DE OcKHAM</vt:lpstr>
      <vt:lpstr>SELEÇÃO DE ATRIBUTOS - HANDS-ON</vt:lpstr>
      <vt:lpstr>agregação </vt:lpstr>
      <vt:lpstr>REDUÇÃO DE DIMENSIONALIDADE</vt:lpstr>
      <vt:lpstr>ANÁLISE COMPONENTE PRINCIPAL (ACP)</vt:lpstr>
      <vt:lpstr>ANÁLISE COMPONENTE PRINCIPAL (ACP)</vt:lpstr>
      <vt:lpstr>ANÁLISE COMPONENTE PRINCIPAL (ACP)</vt:lpstr>
      <vt:lpstr>Introdução ao aprendizado de máquina </vt:lpstr>
      <vt:lpstr>PROCESSO DE CIÊNCIA DE DADOS (CRISP-DM)</vt:lpstr>
      <vt:lpstr>INTRODUÇÃO AO APRENDIZADO DE MÁQUINA</vt:lpstr>
      <vt:lpstr>INTRODUÇÃO AO APRENDIZADO DE MÁQUINA</vt:lpstr>
      <vt:lpstr>MÉTODOS DESCRITIVOS </vt:lpstr>
      <vt:lpstr>ABORDAGENS NÃO SUPERVISIONADAS</vt:lpstr>
      <vt:lpstr>MÉTODOS PREDITIVOS </vt:lpstr>
      <vt:lpstr>ABORDAGENS SUPERVISIONADAS</vt:lpstr>
      <vt:lpstr>CRITÉRIOS PARA SELEÇÃO DE MODELOS </vt:lpstr>
      <vt:lpstr>SELEÇÃO DE MODELOS</vt:lpstr>
      <vt:lpstr>AJUSTE DO MODELO </vt:lpstr>
      <vt:lpstr>AJUSTE DO MODELO</vt:lpstr>
      <vt:lpstr>RISCO ASSOCIADO À COMPLEXIDADE DOS MODELOS</vt:lpstr>
      <vt:lpstr>Obrigado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básica</dc:title>
  <dc:creator>Luiz Carlos Ribeiro Neduziak</dc:creator>
  <cp:lastModifiedBy>Luiz Carlos Neduziak</cp:lastModifiedBy>
  <cp:revision>340</cp:revision>
  <cp:lastPrinted>2024-05-15T14:51:35Z</cp:lastPrinted>
  <dcterms:created xsi:type="dcterms:W3CDTF">2024-05-13T18:48:13Z</dcterms:created>
  <dcterms:modified xsi:type="dcterms:W3CDTF">2025-09-04T16:41:29Z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